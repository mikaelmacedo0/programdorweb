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3cd68ec-3f2d-dd05-7e2f-8f8bab392890}">
          <p14:sldIdLst>
            <p14:sldId id="256"/>
          </p14:sldIdLst>
        </p14:section>
        <p14:section name="Conceito" id="{0fa9c9f0-aa86-7634-b23d-21745871fda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Usos" id="{6edf970e-e5af-6a6d-5b32-579c7236db54}">
          <p14:sldIdLst>
            <p14:sldId id="264"/>
          </p14:sldIdLst>
        </p14:section>
        <p14:section name="Métodos" id="{7a951671-ac58-14ee-dee6-d5baf9c04e89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Fechamento" id="{b3c9b109-3ecc-3815-f217-11694e1e4950}">
          <p14:sldIdLst>
            <p14:sldId id="276"/>
            <p14:sldId id="277"/>
          </p14:sldIdLst>
        </p14:section>
        <p14:section name="Prática" id="{788f234d-9e82-8b19-a2a3-e0e579dbf8d2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Pergunte à turma: como vocês guardariam 50 sabores de pizza em variáveis? Use as células da capa para antecipar a ideia de posição (índice) começando em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O projeto-fio desta aula é a pizzaria: cardápio, fila de pedidos, carrinho 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as quatro etapas e avise que a parte prática fecha a aula com atividades de aquecimento e um desafio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primeiro o código sem array e pergunte o que acontece com 50 sabores. Depois revele a versão com array.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Definição formal e analogia da estante. Ressalte: em JavaScript, array é um tipo de objeto, por isso typeof devolve object e usamos Array.isArray para checar.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Aponte cada parte: valores nas células, índices embaixo, length como quantidade total. O último índice é sempre length - 1.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forma literal [] é a recomendada. Alerte para new Array(3): cria três espaços vazios, não um array com o número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cada linha e peça que a turma preveja o resultado antes de revelar o comentário. Destaque que const protege a variável, não 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cada uso a algo que os alunos já viram: o menu Flexbox, os dados de formulário e o querySelectorAll do 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Avise que a partir daqui cada slide traz um grupo de métodos com exemplo e resultado. Peça que a turma acompanhe no console do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métodos mudam o array original. push/pop trabalham no fim; unshift/shift no início. push e unshift devolvem o novo length; pop e shift devolvem o item removido.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Muita confusão entre os dois. splice muda o original e serve para remover/inserir no meio. slice só copia um trecho; o fim não entra.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indexOf e includes comparam valores simples. find e findIndex recebem uma função de teste, ideais para objetos e condições.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fazem a mesma coisa aqui. Explique quando cada um é melhor: for com índice/break, for...of só com o valor, forEach para efeitos em cada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devolve um novo array do mesmo tamanho. Cada item passa pela função e o resultado vai para o novo array. O original não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fica só com os itens para os quais a função devolve true. O tamanho do resultado pode ser menor. Itens descartados estão em cinza no esquema.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acumula. A cada volta, a função recebe o acumulador e o item atual e devolve o novo acumulador. O segundo argumento (0) é o valor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com sort: sem comparador ele ordena como texto, então 10 vem antes de 3. sort e reverse mudam o original; join, concat e spread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e every devolvem true/false depois de testar os itens. flat desfaz um nível de arrays aninhados.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prática, arrays guardam objetos. Os métodos podem ser encadeados: a saída de um é a entrada do próximo. Conta: 42*2 + 40*3 = 84 + 120 = 204.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os alunos classifiquem os métodos antes de mostrar. As versões toSorted, toReversed e toSpliced (ES2023) existem em navegadores e Node atuais.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coluna da direita como lista de erros para caçar no código dos alunos durante 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
1) const sabores = ["Calabresa","Marguerita","Frango","Portuguesa","Quatro Queijos"]; console.log(sabores[0], sabores.at(-1), sabores.length);
2) const fila = []; fila.push("Pedido 1"); fila.push("Pedido 2"); console.log(fila); fila.shift(); console.log(fila); fila.unshift("Urgente"); console.log(fila);
3) const novos = precos.map(p =&gt; p + 5); // [35, 40, 50, 55]
const caros = novos.filter(p =&gt; p &gt; 40); // [50, 55]
4) const total = carrinho.reduce((acc, i) =&gt; acc + i.valor, 0); // 65
const nomes = carrinho.map(i =&gt; i.item);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
5) if (!sabores.includes("Portuguesa")) { sabores.push("Portuguesa"); } console.log(sabores);
6) const top3 = [...pedidos].sort((a, b) =&gt; b.valor - a.valor).slice(0, 3);
7a) const total = pedidos.reduce((acc, p) =&gt; acc + p.preco * p.qtd, 0);
7b) const maisCaro = pedidos.reduce((a, p) =&gt; (p.preco &gt; a.preco ? p : a));
7c) const lista = pedidos.map(p =&gt; p.sabor).sort((a, b) =&gt; a.localeCompare(b));
7d) const grandes = pedidos.filter(p =&gt; p.qtd &gt;= 2).map(p =&gt; p.sabor.toUpperCase());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33172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Elaborar Projetos de Aplicações para Web  |  Arrays em JavaScript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3E6"/>
                </a:solidFill>
              </a:rPr>
              <a:t>ELABORAR PROJETOS DE APLICAÇÕES PARA WEB  |  TRILHA DE JAVASCRIPT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9144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Arrays em JavaScript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331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Definição, usos, métodos e atividades práticas</a:t>
            </a:r>
            <a:endParaRPr lang="en-US" sz="2000" dirty="0"/>
          </a:p>
        </p:txBody>
      </p:sp>
      <p:sp>
        <p:nvSpPr>
          <p:cNvPr id="5" name="Célula do array"/>
          <p:cNvSpPr/>
          <p:nvPr/>
        </p:nvSpPr>
        <p:spPr>
          <a:xfrm>
            <a:off x="640080" y="352044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52044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Calabresa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79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400" dirty="0"/>
          </a:p>
        </p:txBody>
      </p:sp>
      <p:sp>
        <p:nvSpPr>
          <p:cNvPr id="8" name="Célula do array"/>
          <p:cNvSpPr/>
          <p:nvPr/>
        </p:nvSpPr>
        <p:spPr>
          <a:xfrm>
            <a:off x="2231136" y="352044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31136" y="352044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Marguerita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31136" y="4279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400" dirty="0"/>
          </a:p>
        </p:txBody>
      </p:sp>
      <p:sp>
        <p:nvSpPr>
          <p:cNvPr id="11" name="Célula do array"/>
          <p:cNvSpPr/>
          <p:nvPr/>
        </p:nvSpPr>
        <p:spPr>
          <a:xfrm>
            <a:off x="3822192" y="352044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2192" y="352044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Frango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4279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400" dirty="0"/>
          </a:p>
        </p:txBody>
      </p:sp>
      <p:sp>
        <p:nvSpPr>
          <p:cNvPr id="14" name="Célula do array"/>
          <p:cNvSpPr/>
          <p:nvPr/>
        </p:nvSpPr>
        <p:spPr>
          <a:xfrm>
            <a:off x="5413248" y="352044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13248" y="352044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Portuguesa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13248" y="4279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400" dirty="0"/>
          </a:p>
        </p:txBody>
      </p:sp>
      <p:sp>
        <p:nvSpPr>
          <p:cNvPr id="17" name="Célula do array"/>
          <p:cNvSpPr/>
          <p:nvPr/>
        </p:nvSpPr>
        <p:spPr>
          <a:xfrm>
            <a:off x="7004304" y="352044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04304" y="352044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Quatro Queijos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04304" y="4279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que você vai aprender</a:t>
            </a:r>
            <a:endParaRPr lang="en-US" sz="3400" dirty="0"/>
          </a:p>
        </p:txBody>
      </p:sp>
      <p:pic>
        <p:nvPicPr>
          <p:cNvPr id="4" name="Ícone de chec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65760" cy="3657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1188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Definir o que é um array e como funcionam os índices</a:t>
            </a:r>
            <a:endParaRPr lang="en-US" sz="1600" dirty="0"/>
          </a:p>
        </p:txBody>
      </p:sp>
      <p:pic>
        <p:nvPicPr>
          <p:cNvPr id="6" name="Ícone de 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365760" cy="3657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0584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Criar, ler e alterar elementos</a:t>
            </a:r>
            <a:endParaRPr lang="en-US" sz="1600" dirty="0"/>
          </a:p>
        </p:txBody>
      </p:sp>
      <p:pic>
        <p:nvPicPr>
          <p:cNvPr id="8" name="Ícone de 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365760" cy="36576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005840" y="2468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Escolher o método certo para adicionar, remover e buscar</a:t>
            </a:r>
            <a:endParaRPr lang="en-US" sz="1600" dirty="0"/>
          </a:p>
        </p:txBody>
      </p:sp>
      <p:pic>
        <p:nvPicPr>
          <p:cNvPr id="10" name="Ícone de 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365760" cy="36576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005840" y="3108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Transformar dados com map, filter e reduce</a:t>
            </a:r>
            <a:endParaRPr lang="en-US" sz="1600" dirty="0"/>
          </a:p>
        </p:txBody>
      </p:sp>
      <p:pic>
        <p:nvPicPr>
          <p:cNvPr id="12" name="Ícone de check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94760"/>
            <a:ext cx="365760" cy="36576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005840" y="3749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Aplicar tudo no projeto da pizzaria</a:t>
            </a:r>
            <a:endParaRPr lang="en-US" sz="1600" dirty="0"/>
          </a:p>
        </p:txBody>
      </p:sp>
      <p:sp>
        <p:nvSpPr>
          <p:cNvPr id="14" name="Cartão do projeto"/>
          <p:cNvSpPr/>
          <p:nvPr/>
        </p:nvSpPr>
        <p:spPr>
          <a:xfrm>
            <a:off x="5577840" y="109728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15" name="Círculo do ícone"/>
          <p:cNvSpPr/>
          <p:nvPr/>
        </p:nvSpPr>
        <p:spPr>
          <a:xfrm>
            <a:off x="5852160" y="13716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Ícone" descr="Íc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1531620"/>
            <a:ext cx="320040" cy="32004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852160" y="2148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Projeto-fio: a pizzaria</a:t>
            </a:r>
            <a:endParaRPr lang="en-US" sz="2200" dirty="0"/>
          </a:p>
        </p:txBody>
      </p:sp>
      <p:sp>
        <p:nvSpPr>
          <p:cNvPr id="18" name="Text 9"/>
          <p:cNvSpPr txBox="1"/>
          <p:nvPr/>
        </p:nvSpPr>
        <p:spPr>
          <a:xfrm>
            <a:off x="5852160" y="30175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Cardápio, fila de pedidos, carrinho e total da conta: tudo construído com arrays.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Roteiro da aula</a:t>
            </a:r>
            <a:endParaRPr lang="en-US" sz="3400" dirty="0"/>
          </a:p>
        </p:txBody>
      </p:sp>
      <p:sp>
        <p:nvSpPr>
          <p:cNvPr id="4" name="Cartão da etapa"/>
          <p:cNvSpPr/>
          <p:nvPr/>
        </p:nvSpPr>
        <p:spPr>
          <a:xfrm>
            <a:off x="457200" y="1371600"/>
            <a:ext cx="1920240" cy="29260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Número da etapa"/>
          <p:cNvSpPr/>
          <p:nvPr/>
        </p:nvSpPr>
        <p:spPr>
          <a:xfrm>
            <a:off x="100584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1546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Definição, índices e formas de criar um array</a:t>
            </a:r>
            <a:endParaRPr lang="en-US" sz="1400" dirty="0"/>
          </a:p>
        </p:txBody>
      </p:sp>
      <p:sp>
        <p:nvSpPr>
          <p:cNvPr id="9" name="Cartão da etapa"/>
          <p:cNvSpPr/>
          <p:nvPr/>
        </p:nvSpPr>
        <p:spPr>
          <a:xfrm>
            <a:off x="2560320" y="1371600"/>
            <a:ext cx="1920240" cy="29260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Número da etapa"/>
          <p:cNvSpPr/>
          <p:nvPr/>
        </p:nvSpPr>
        <p:spPr>
          <a:xfrm>
            <a:off x="310896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1089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31546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Onde arrays aparecem em aplicações web</a:t>
            </a:r>
            <a:endParaRPr lang="en-US" sz="1400" dirty="0"/>
          </a:p>
        </p:txBody>
      </p:sp>
      <p:sp>
        <p:nvSpPr>
          <p:cNvPr id="14" name="Cartão da etapa"/>
          <p:cNvSpPr/>
          <p:nvPr/>
        </p:nvSpPr>
        <p:spPr>
          <a:xfrm>
            <a:off x="4663440" y="1371600"/>
            <a:ext cx="1920240" cy="29260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Número da etapa"/>
          <p:cNvSpPr/>
          <p:nvPr/>
        </p:nvSpPr>
        <p:spPr>
          <a:xfrm>
            <a:off x="521208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2120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31546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Adicionar, remover, buscar, percorrer e transformar</a:t>
            </a:r>
            <a:endParaRPr lang="en-US" sz="1400" dirty="0"/>
          </a:p>
        </p:txBody>
      </p:sp>
      <p:sp>
        <p:nvSpPr>
          <p:cNvPr id="19" name="Cartão da etapa"/>
          <p:cNvSpPr/>
          <p:nvPr/>
        </p:nvSpPr>
        <p:spPr>
          <a:xfrm>
            <a:off x="6766560" y="1371600"/>
            <a:ext cx="1920240" cy="29260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Número da etapa"/>
          <p:cNvSpPr/>
          <p:nvPr/>
        </p:nvSpPr>
        <p:spPr>
          <a:xfrm>
            <a:off x="7315200" y="16459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31546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Sete atividades, do aquecimento ao desafio final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Por que precisamos de arrays?</a:t>
            </a:r>
            <a:endParaRPr lang="en-US" sz="3400" dirty="0"/>
          </a:p>
        </p:txBody>
      </p:sp>
      <p:sp>
        <p:nvSpPr>
          <p:cNvPr id="4" name="Etiqueta"/>
          <p:cNvSpPr/>
          <p:nvPr/>
        </p:nvSpPr>
        <p:spPr>
          <a:xfrm>
            <a:off x="457200" y="1097280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" name="Texto da etiqueta"/>
          <p:cNvSpPr txBox="1"/>
          <p:nvPr/>
        </p:nvSpPr>
        <p:spPr>
          <a:xfrm>
            <a:off x="457200" y="1097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Sem array</a:t>
            </a:r>
            <a:endParaRPr lang="en-US" sz="1300" dirty="0"/>
          </a:p>
        </p:txBody>
      </p:sp>
      <p:sp>
        <p:nvSpPr>
          <p:cNvPr id="6" name="Etiqueta"/>
          <p:cNvSpPr/>
          <p:nvPr/>
        </p:nvSpPr>
        <p:spPr>
          <a:xfrm>
            <a:off x="4663440" y="1097280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7" name="Texto da etiqueta"/>
          <p:cNvSpPr txBox="1"/>
          <p:nvPr/>
        </p:nvSpPr>
        <p:spPr>
          <a:xfrm>
            <a:off x="4663440" y="1097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 array</a:t>
            </a:r>
            <a:endParaRPr lang="en-US" sz="1300" dirty="0"/>
          </a:p>
        </p:txBody>
      </p:sp>
      <p:sp>
        <p:nvSpPr>
          <p:cNvPr id="8" name="Bloco de código"/>
          <p:cNvSpPr/>
          <p:nvPr/>
        </p:nvSpPr>
        <p:spPr>
          <a:xfrm>
            <a:off x="457200" y="150876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141B34"/>
          </a:solidFill>
          <a:ln/>
        </p:spPr>
      </p:sp>
      <p:sp>
        <p:nvSpPr>
          <p:cNvPr id="9" name="Código"/>
          <p:cNvSpPr txBox="1"/>
          <p:nvPr/>
        </p:nvSpPr>
        <p:spPr>
          <a:xfrm>
            <a:off x="594360" y="155448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sabor1 =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"Calabresa"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sabor2 =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"Marguerita"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sabor3 =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"Frango"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sabor4 =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"Portuguesa"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...e se forem 50 sabores?</a:t>
            </a:r>
            <a:endParaRPr lang="en-US" sz="1300" dirty="0"/>
          </a:p>
        </p:txBody>
      </p:sp>
      <p:sp>
        <p:nvSpPr>
          <p:cNvPr id="10" name="Bloco de código"/>
          <p:cNvSpPr/>
          <p:nvPr/>
        </p:nvSpPr>
        <p:spPr>
          <a:xfrm>
            <a:off x="4663440" y="150876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141B34"/>
          </a:solidFill>
          <a:ln/>
        </p:spPr>
      </p:sp>
      <p:sp>
        <p:nvSpPr>
          <p:cNvPr id="11" name="Código"/>
          <p:cNvSpPr txBox="1"/>
          <p:nvPr/>
        </p:nvSpPr>
        <p:spPr>
          <a:xfrm>
            <a:off x="4800600" y="155448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sabores =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"Calabresa"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"Marguerita"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"Frango"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"Portuguesa"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</p:txBody>
      </p:sp>
      <p:sp>
        <p:nvSpPr>
          <p:cNvPr id="12" name="Destaque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= uma variável que guarda vários valores, em ordem.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Um nome só, acesso por posição e tamanho que cresce e diminui.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que é um array?</a:t>
            </a:r>
            <a:endParaRPr lang="en-US" sz="3400" dirty="0"/>
          </a:p>
        </p:txBody>
      </p:sp>
      <p:sp>
        <p:nvSpPr>
          <p:cNvPr id="4" name="Definição"/>
          <p:cNvSpPr/>
          <p:nvPr/>
        </p:nvSpPr>
        <p:spPr>
          <a:xfrm>
            <a:off x="457200" y="1097280"/>
            <a:ext cx="47548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1887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Array é uma estrutura que guarda uma lista ordenada de valores, cada um acessado por um índice numérico.</a:t>
            </a:r>
            <a:endParaRPr lang="en-US" sz="1700" dirty="0"/>
          </a:p>
        </p:txBody>
      </p:sp>
      <p:sp>
        <p:nvSpPr>
          <p:cNvPr id="6" name="Propriedade"/>
          <p:cNvSpPr/>
          <p:nvPr/>
        </p:nvSpPr>
        <p:spPr>
          <a:xfrm>
            <a:off x="457200" y="2395728"/>
            <a:ext cx="23317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2459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Ordenado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340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mantém a ordem de inserção</a:t>
            </a:r>
            <a:endParaRPr lang="en-US" sz="1300" dirty="0"/>
          </a:p>
        </p:txBody>
      </p:sp>
      <p:sp>
        <p:nvSpPr>
          <p:cNvPr id="9" name="Propriedade"/>
          <p:cNvSpPr/>
          <p:nvPr/>
        </p:nvSpPr>
        <p:spPr>
          <a:xfrm>
            <a:off x="2880360" y="2395728"/>
            <a:ext cx="23317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017520" y="2459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Índice 0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27340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1º item fica na posição 0</a:t>
            </a:r>
            <a:endParaRPr lang="en-US" sz="1300" dirty="0"/>
          </a:p>
        </p:txBody>
      </p:sp>
      <p:sp>
        <p:nvSpPr>
          <p:cNvPr id="12" name="Propriedade"/>
          <p:cNvSpPr/>
          <p:nvPr/>
        </p:nvSpPr>
        <p:spPr>
          <a:xfrm>
            <a:off x="457200" y="3172968"/>
            <a:ext cx="23317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Dinâmico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511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cresce e diminui sozinho</a:t>
            </a:r>
            <a:endParaRPr lang="en-US" sz="1300" dirty="0"/>
          </a:p>
        </p:txBody>
      </p:sp>
      <p:sp>
        <p:nvSpPr>
          <p:cNvPr id="15" name="Propriedade"/>
          <p:cNvSpPr/>
          <p:nvPr/>
        </p:nvSpPr>
        <p:spPr>
          <a:xfrm>
            <a:off x="2880360" y="3172968"/>
            <a:ext cx="23317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017520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Tipos mistos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3511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números, textos, objetos</a:t>
            </a:r>
            <a:endParaRPr lang="en-US" sz="1300" dirty="0"/>
          </a:p>
        </p:txBody>
      </p:sp>
      <p:sp>
        <p:nvSpPr>
          <p:cNvPr id="18" name="Bloco de código"/>
          <p:cNvSpPr/>
          <p:nvPr/>
        </p:nvSpPr>
        <p:spPr>
          <a:xfrm>
            <a:off x="457200" y="3950208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141B34"/>
          </a:solidFill>
          <a:ln/>
        </p:spPr>
      </p:sp>
      <p:sp>
        <p:nvSpPr>
          <p:cNvPr id="19" name="Código"/>
          <p:cNvSpPr txBox="1"/>
          <p:nvPr/>
        </p:nvSpPr>
        <p:spPr>
          <a:xfrm>
            <a:off x="594360" y="39959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[];         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"object"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isArray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([]); 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00" dirty="0"/>
          </a:p>
        </p:txBody>
      </p:sp>
      <p:sp>
        <p:nvSpPr>
          <p:cNvPr id="20" name="Analogia"/>
          <p:cNvSpPr/>
          <p:nvPr/>
        </p:nvSpPr>
        <p:spPr>
          <a:xfrm>
            <a:off x="5394960" y="1097280"/>
            <a:ext cx="3291840" cy="3493008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Analogia: a estante de gavetas</a:t>
            </a:r>
            <a:endParaRPr lang="en-US" sz="1600" dirty="0"/>
          </a:p>
        </p:txBody>
      </p:sp>
      <p:sp>
        <p:nvSpPr>
          <p:cNvPr id="22" name="Gaveta"/>
          <p:cNvSpPr/>
          <p:nvPr/>
        </p:nvSpPr>
        <p:spPr>
          <a:xfrm>
            <a:off x="5577840" y="16916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Número da gaveta"/>
          <p:cNvSpPr/>
          <p:nvPr/>
        </p:nvSpPr>
        <p:spPr>
          <a:xfrm>
            <a:off x="5669280" y="1755648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66928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</a:rPr>
              <a:t>0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Calabresa</a:t>
            </a:r>
            <a:endParaRPr lang="en-US" sz="1500" dirty="0"/>
          </a:p>
        </p:txBody>
      </p:sp>
      <p:sp>
        <p:nvSpPr>
          <p:cNvPr id="26" name="Gaveta"/>
          <p:cNvSpPr/>
          <p:nvPr/>
        </p:nvSpPr>
        <p:spPr>
          <a:xfrm>
            <a:off x="5577840" y="22860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Número da gaveta"/>
          <p:cNvSpPr/>
          <p:nvPr/>
        </p:nvSpPr>
        <p:spPr>
          <a:xfrm>
            <a:off x="5669280" y="2350008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66928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</a:rPr>
              <a:t>1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1722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Marguerita</a:t>
            </a:r>
            <a:endParaRPr lang="en-US" sz="1500" dirty="0"/>
          </a:p>
        </p:txBody>
      </p:sp>
      <p:sp>
        <p:nvSpPr>
          <p:cNvPr id="30" name="Gaveta"/>
          <p:cNvSpPr/>
          <p:nvPr/>
        </p:nvSpPr>
        <p:spPr>
          <a:xfrm>
            <a:off x="5577840" y="28803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Número da gaveta"/>
          <p:cNvSpPr/>
          <p:nvPr/>
        </p:nvSpPr>
        <p:spPr>
          <a:xfrm>
            <a:off x="5669280" y="2944368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66928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</a:rPr>
              <a:t>2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1722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Frango</a:t>
            </a:r>
            <a:endParaRPr lang="en-US" sz="1500" dirty="0"/>
          </a:p>
        </p:txBody>
      </p:sp>
      <p:sp>
        <p:nvSpPr>
          <p:cNvPr id="34" name="Gaveta"/>
          <p:cNvSpPr/>
          <p:nvPr/>
        </p:nvSpPr>
        <p:spPr>
          <a:xfrm>
            <a:off x="5577840" y="34747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Número da gaveta"/>
          <p:cNvSpPr/>
          <p:nvPr/>
        </p:nvSpPr>
        <p:spPr>
          <a:xfrm>
            <a:off x="5669280" y="3538728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66928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</a:rPr>
              <a:t>3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17220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Portuguesa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5778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Pediu a gaveta 2? Vem o Frango.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Anatomia de um array</a:t>
            </a:r>
            <a:endParaRPr lang="en-US" sz="3400" dirty="0"/>
          </a:p>
        </p:txBody>
      </p:sp>
      <p:sp>
        <p:nvSpPr>
          <p:cNvPr id="4" name="Bloco de código"/>
          <p:cNvSpPr/>
          <p:nvPr/>
        </p:nvSpPr>
        <p:spPr>
          <a:xfrm>
            <a:off x="457200" y="10972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41B34"/>
          </a:solidFill>
          <a:ln/>
        </p:spPr>
      </p:sp>
      <p:sp>
        <p:nvSpPr>
          <p:cNvPr id="5" name="Código"/>
          <p:cNvSpPr txBox="1"/>
          <p:nvPr/>
        </p:nvSpPr>
        <p:spPr>
          <a:xfrm>
            <a:off x="594360" y="11430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sabores = [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"Calabresa"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"Marguerita"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"Frango"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"Portuguesa"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</p:txBody>
      </p:sp>
      <p:sp>
        <p:nvSpPr>
          <p:cNvPr id="6" name="Célula do array"/>
          <p:cNvSpPr/>
          <p:nvPr/>
        </p:nvSpPr>
        <p:spPr>
          <a:xfrm>
            <a:off x="502920" y="18288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828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Calabresa</a:t>
            </a:r>
            <a:endParaRPr lang="en-US" sz="1800" dirty="0"/>
          </a:p>
        </p:txBody>
      </p:sp>
      <p:sp>
        <p:nvSpPr>
          <p:cNvPr id="8" name="Etiqueta"/>
          <p:cNvSpPr/>
          <p:nvPr/>
        </p:nvSpPr>
        <p:spPr>
          <a:xfrm>
            <a:off x="960120" y="2788920"/>
            <a:ext cx="914400" cy="329184"/>
          </a:xfrm>
          <a:prstGeom prst="roundRect">
            <a:avLst>
              <a:gd name="adj" fmla="val 47222"/>
            </a:avLst>
          </a:prstGeom>
          <a:solidFill>
            <a:srgbClr val="F2A541"/>
          </a:solidFill>
          <a:ln/>
        </p:spPr>
      </p:sp>
      <p:sp>
        <p:nvSpPr>
          <p:cNvPr id="9" name="Texto da etiqueta"/>
          <p:cNvSpPr txBox="1"/>
          <p:nvPr/>
        </p:nvSpPr>
        <p:spPr>
          <a:xfrm>
            <a:off x="960120" y="2788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236"/>
                </a:solidFill>
              </a:rPr>
              <a:t>[0]</a:t>
            </a:r>
            <a:endParaRPr lang="en-US" sz="1500" dirty="0"/>
          </a:p>
        </p:txBody>
      </p:sp>
      <p:sp>
        <p:nvSpPr>
          <p:cNvPr id="10" name="Célula do array"/>
          <p:cNvSpPr/>
          <p:nvPr/>
        </p:nvSpPr>
        <p:spPr>
          <a:xfrm>
            <a:off x="2606040" y="18288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606040" y="1828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Marguerita</a:t>
            </a:r>
            <a:endParaRPr lang="en-US" sz="1800" dirty="0"/>
          </a:p>
        </p:txBody>
      </p:sp>
      <p:sp>
        <p:nvSpPr>
          <p:cNvPr id="12" name="Etiqueta"/>
          <p:cNvSpPr/>
          <p:nvPr/>
        </p:nvSpPr>
        <p:spPr>
          <a:xfrm>
            <a:off x="3063240" y="2788920"/>
            <a:ext cx="914400" cy="329184"/>
          </a:xfrm>
          <a:prstGeom prst="roundRect">
            <a:avLst>
              <a:gd name="adj" fmla="val 47222"/>
            </a:avLst>
          </a:prstGeom>
          <a:solidFill>
            <a:srgbClr val="F2A541"/>
          </a:solidFill>
          <a:ln/>
        </p:spPr>
      </p:sp>
      <p:sp>
        <p:nvSpPr>
          <p:cNvPr id="13" name="Texto da etiqueta"/>
          <p:cNvSpPr txBox="1"/>
          <p:nvPr/>
        </p:nvSpPr>
        <p:spPr>
          <a:xfrm>
            <a:off x="3063240" y="2788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236"/>
                </a:solidFill>
              </a:rPr>
              <a:t>[1]</a:t>
            </a:r>
            <a:endParaRPr lang="en-US" sz="1500" dirty="0"/>
          </a:p>
        </p:txBody>
      </p:sp>
      <p:sp>
        <p:nvSpPr>
          <p:cNvPr id="14" name="Célula do array"/>
          <p:cNvSpPr/>
          <p:nvPr/>
        </p:nvSpPr>
        <p:spPr>
          <a:xfrm>
            <a:off x="4709160" y="18288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09160" y="1828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Frango</a:t>
            </a:r>
            <a:endParaRPr lang="en-US" sz="1800" dirty="0"/>
          </a:p>
        </p:txBody>
      </p:sp>
      <p:sp>
        <p:nvSpPr>
          <p:cNvPr id="16" name="Etiqueta"/>
          <p:cNvSpPr/>
          <p:nvPr/>
        </p:nvSpPr>
        <p:spPr>
          <a:xfrm>
            <a:off x="5166360" y="2788920"/>
            <a:ext cx="914400" cy="329184"/>
          </a:xfrm>
          <a:prstGeom prst="roundRect">
            <a:avLst>
              <a:gd name="adj" fmla="val 47222"/>
            </a:avLst>
          </a:prstGeom>
          <a:solidFill>
            <a:srgbClr val="F2A541"/>
          </a:solidFill>
          <a:ln/>
        </p:spPr>
      </p:sp>
      <p:sp>
        <p:nvSpPr>
          <p:cNvPr id="17" name="Texto da etiqueta"/>
          <p:cNvSpPr txBox="1"/>
          <p:nvPr/>
        </p:nvSpPr>
        <p:spPr>
          <a:xfrm>
            <a:off x="5166360" y="2788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236"/>
                </a:solidFill>
              </a:rPr>
              <a:t>[2]</a:t>
            </a:r>
            <a:endParaRPr lang="en-US" sz="1500" dirty="0"/>
          </a:p>
        </p:txBody>
      </p:sp>
      <p:sp>
        <p:nvSpPr>
          <p:cNvPr id="18" name="Célula do array"/>
          <p:cNvSpPr/>
          <p:nvPr/>
        </p:nvSpPr>
        <p:spPr>
          <a:xfrm>
            <a:off x="6812280" y="18288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12280" y="1828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Portuguesa</a:t>
            </a:r>
            <a:endParaRPr lang="en-US" sz="1800" dirty="0"/>
          </a:p>
        </p:txBody>
      </p:sp>
      <p:sp>
        <p:nvSpPr>
          <p:cNvPr id="20" name="Etiqueta"/>
          <p:cNvSpPr/>
          <p:nvPr/>
        </p:nvSpPr>
        <p:spPr>
          <a:xfrm>
            <a:off x="7269480" y="2788920"/>
            <a:ext cx="914400" cy="329184"/>
          </a:xfrm>
          <a:prstGeom prst="roundRect">
            <a:avLst>
              <a:gd name="adj" fmla="val 47222"/>
            </a:avLst>
          </a:prstGeom>
          <a:solidFill>
            <a:srgbClr val="F2A541"/>
          </a:solidFill>
          <a:ln/>
        </p:spPr>
      </p:sp>
      <p:sp>
        <p:nvSpPr>
          <p:cNvPr id="21" name="Texto da etiqueta"/>
          <p:cNvSpPr txBox="1"/>
          <p:nvPr/>
        </p:nvSpPr>
        <p:spPr>
          <a:xfrm>
            <a:off x="7269480" y="2788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236"/>
                </a:solidFill>
              </a:rPr>
              <a:t>[3]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primeiro item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122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último item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65176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length = 4  →  último índice = length - 1 = 3</a:t>
            </a:r>
            <a:endParaRPr lang="en-US" sz="1400" dirty="0"/>
          </a:p>
        </p:txBody>
      </p:sp>
      <p:sp>
        <p:nvSpPr>
          <p:cNvPr id="25" name="Bloco de código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41B34"/>
          </a:solidFill>
          <a:ln/>
        </p:spPr>
      </p:sp>
      <p:sp>
        <p:nvSpPr>
          <p:cNvPr id="26" name="Código"/>
          <p:cNvSpPr txBox="1"/>
          <p:nvPr/>
        </p:nvSpPr>
        <p:spPr>
          <a:xfrm>
            <a:off x="594360" y="3886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sabores.length;                   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sabores[sabores.length -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     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"Portuguesa"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Criando arrays</a:t>
            </a:r>
            <a:endParaRPr lang="en-US" sz="3400" dirty="0"/>
          </a:p>
        </p:txBody>
      </p:sp>
      <p:sp>
        <p:nvSpPr>
          <p:cNvPr id="4" name="Forma de criar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Literal (o mais usado)</a:t>
            </a:r>
            <a:endParaRPr lang="en-US" sz="1500" dirty="0"/>
          </a:p>
        </p:txBody>
      </p:sp>
      <p:sp>
        <p:nvSpPr>
          <p:cNvPr id="6" name="Bloco de código"/>
          <p:cNvSpPr/>
          <p:nvPr/>
        </p:nvSpPr>
        <p:spPr>
          <a:xfrm>
            <a:off x="594360" y="1508760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141B34"/>
          </a:solidFill>
          <a:ln/>
        </p:spPr>
      </p:sp>
      <p:sp>
        <p:nvSpPr>
          <p:cNvPr id="7" name="Código"/>
          <p:cNvSpPr txBox="1"/>
          <p:nvPr/>
        </p:nvSpPr>
        <p:spPr>
          <a:xfrm>
            <a:off x="73152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 = [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vazio = [];</a:t>
            </a:r>
            <a:endParaRPr lang="en-US" sz="1200" dirty="0"/>
          </a:p>
        </p:txBody>
      </p:sp>
      <p:sp>
        <p:nvSpPr>
          <p:cNvPr id="8" name="Forma de criar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0060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new Array(n)  (cuidado)</a:t>
            </a:r>
            <a:endParaRPr lang="en-US" sz="1500" dirty="0"/>
          </a:p>
        </p:txBody>
      </p:sp>
      <p:sp>
        <p:nvSpPr>
          <p:cNvPr id="10" name="Bloco de código"/>
          <p:cNvSpPr/>
          <p:nvPr/>
        </p:nvSpPr>
        <p:spPr>
          <a:xfrm>
            <a:off x="4800600" y="1508760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141B34"/>
          </a:solidFill>
          <a:ln/>
        </p:spPr>
      </p:sp>
      <p:sp>
        <p:nvSpPr>
          <p:cNvPr id="11" name="Código"/>
          <p:cNvSpPr txBox="1"/>
          <p:nvPr/>
        </p:nvSpPr>
        <p:spPr>
          <a:xfrm>
            <a:off x="493776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 &lt;3 itens vazios&gt; ]</a:t>
            </a:r>
            <a:endParaRPr lang="en-US" sz="1200" dirty="0"/>
          </a:p>
        </p:txBody>
      </p:sp>
      <p:sp>
        <p:nvSpPr>
          <p:cNvPr id="12" name="Forma de criar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Array.of(...)</a:t>
            </a:r>
            <a:endParaRPr lang="en-US" sz="1500" dirty="0"/>
          </a:p>
        </p:txBody>
      </p:sp>
      <p:sp>
        <p:nvSpPr>
          <p:cNvPr id="14" name="Bloco de código"/>
          <p:cNvSpPr/>
          <p:nvPr/>
        </p:nvSpPr>
        <p:spPr>
          <a:xfrm>
            <a:off x="594360" y="3246120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141B34"/>
          </a:solidFill>
          <a:ln/>
        </p:spPr>
      </p:sp>
      <p:sp>
        <p:nvSpPr>
          <p:cNvPr id="15" name="Código"/>
          <p:cNvSpPr txBox="1"/>
          <p:nvPr/>
        </p:nvSpPr>
        <p:spPr>
          <a:xfrm>
            <a:off x="731520" y="3291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</a:t>
            </a:r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[7]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2]</a:t>
            </a:r>
            <a:endParaRPr lang="en-US" sz="1200" dirty="0"/>
          </a:p>
        </p:txBody>
      </p:sp>
      <p:sp>
        <p:nvSpPr>
          <p:cNvPr id="16" name="Forma de criar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Array.from(...)</a:t>
            </a:r>
            <a:endParaRPr lang="en-US" sz="1500" dirty="0"/>
          </a:p>
        </p:txBody>
      </p:sp>
      <p:sp>
        <p:nvSpPr>
          <p:cNvPr id="18" name="Bloco de código"/>
          <p:cNvSpPr/>
          <p:nvPr/>
        </p:nvSpPr>
        <p:spPr>
          <a:xfrm>
            <a:off x="4800600" y="3246120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141B34"/>
          </a:solidFill>
          <a:ln/>
        </p:spPr>
      </p:sp>
      <p:sp>
        <p:nvSpPr>
          <p:cNvPr id="19" name="Código"/>
          <p:cNvSpPr txBox="1"/>
          <p:nvPr/>
        </p:nvSpPr>
        <p:spPr>
          <a:xfrm>
            <a:off x="4937760" y="3291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["a", "b", "c"]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({length: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(_, i) =&gt; i);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[0, 1, 2]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Acessando e alterando itens</a:t>
            </a:r>
            <a:endParaRPr lang="en-US" sz="3400" dirty="0"/>
          </a:p>
        </p:txBody>
      </p:sp>
      <p:sp>
        <p:nvSpPr>
          <p:cNvPr id="4" name="Bloco de código"/>
          <p:cNvSpPr/>
          <p:nvPr/>
        </p:nvSpPr>
        <p:spPr>
          <a:xfrm>
            <a:off x="457200" y="1097280"/>
            <a:ext cx="4846320" cy="2606040"/>
          </a:xfrm>
          <a:prstGeom prst="roundRect">
            <a:avLst>
              <a:gd name="adj" fmla="val 2105"/>
            </a:avLst>
          </a:prstGeom>
          <a:solidFill>
            <a:srgbClr val="141B34"/>
          </a:solidFill>
          <a:ln/>
        </p:spPr>
      </p:sp>
      <p:sp>
        <p:nvSpPr>
          <p:cNvPr id="5" name="Código"/>
          <p:cNvSpPr txBox="1"/>
          <p:nvPr/>
        </p:nvSpPr>
        <p:spPr>
          <a:xfrm>
            <a:off x="594360" y="1143000"/>
            <a:ext cx="4572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sabores = [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"Calabresa"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"Marguerita"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"Frango"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sabores[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   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"Calabresa"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sabores[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   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"Frango"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sabores[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   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sabores.length;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"Frango"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sabores[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"Quatro Queijos"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sabores[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"Portuguesa"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6" name="Alerta"/>
          <p:cNvSpPr/>
          <p:nvPr/>
        </p:nvSpPr>
        <p:spPr>
          <a:xfrm>
            <a:off x="457200" y="3840480"/>
            <a:ext cx="48463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3886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 impede reatribuir a variável, mas não impede alterar os itens do array.</a:t>
            </a:r>
            <a:endParaRPr lang="en-US" sz="1400" dirty="0"/>
          </a:p>
        </p:txBody>
      </p:sp>
      <p:sp>
        <p:nvSpPr>
          <p:cNvPr id="8" name="Dica"/>
          <p:cNvSpPr/>
          <p:nvPr/>
        </p:nvSpPr>
        <p:spPr>
          <a:xfrm>
            <a:off x="5486400" y="1097280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0" y="12070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Índice começa em 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554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primeiro item é sempre sabores[0]</a:t>
            </a:r>
            <a:endParaRPr lang="en-US" sz="1400" dirty="0"/>
          </a:p>
        </p:txBody>
      </p:sp>
      <p:sp>
        <p:nvSpPr>
          <p:cNvPr id="11" name="Dica"/>
          <p:cNvSpPr/>
          <p:nvPr/>
        </p:nvSpPr>
        <p:spPr>
          <a:xfrm>
            <a:off x="5486400" y="2267712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0" y="23774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Fora do intervalo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devolve undefined, sem dar erro</a:t>
            </a:r>
            <a:endParaRPr lang="en-US" sz="1400" dirty="0"/>
          </a:p>
        </p:txBody>
      </p:sp>
      <p:sp>
        <p:nvSpPr>
          <p:cNvPr id="14" name="Dica"/>
          <p:cNvSpPr/>
          <p:nvPr/>
        </p:nvSpPr>
        <p:spPr>
          <a:xfrm>
            <a:off x="5486400" y="3438144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9280" y="3547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at(-1)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38953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lê de trás para frente: -1 é o último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Onde arrays aparecem</a:t>
            </a:r>
            <a:endParaRPr lang="en-US" sz="3400" dirty="0"/>
          </a:p>
        </p:txBody>
      </p:sp>
      <p:sp>
        <p:nvSpPr>
          <p:cNvPr id="4" name="Cartão de uso"/>
          <p:cNvSpPr/>
          <p:nvPr/>
        </p:nvSpPr>
        <p:spPr>
          <a:xfrm>
            <a:off x="45720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5" name="Círculo do ícone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Í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Listas de itens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2128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cardápio, tarefas, itens de menu de navegação</a:t>
            </a:r>
            <a:endParaRPr lang="en-US" sz="1300" dirty="0"/>
          </a:p>
        </p:txBody>
      </p:sp>
      <p:sp>
        <p:nvSpPr>
          <p:cNvPr id="9" name="Cartão de uso"/>
          <p:cNvSpPr/>
          <p:nvPr/>
        </p:nvSpPr>
        <p:spPr>
          <a:xfrm>
            <a:off x="324612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0" name="Círculo do ícone"/>
          <p:cNvSpPr/>
          <p:nvPr/>
        </p:nvSpPr>
        <p:spPr>
          <a:xfrm>
            <a:off x="342900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Ícone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2900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Carrinho de compras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22128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adicionar, remover e somar produtos</a:t>
            </a:r>
            <a:endParaRPr lang="en-US" sz="1300" dirty="0"/>
          </a:p>
        </p:txBody>
      </p:sp>
      <p:sp>
        <p:nvSpPr>
          <p:cNvPr id="14" name="Cartão de uso"/>
          <p:cNvSpPr/>
          <p:nvPr/>
        </p:nvSpPr>
        <p:spPr>
          <a:xfrm>
            <a:off x="603504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5" name="Círculo do ícone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Ícone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1792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Dados de API e JSON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22128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respostas de servidores chegam como arrays</a:t>
            </a:r>
            <a:endParaRPr lang="en-US" sz="1300" dirty="0"/>
          </a:p>
        </p:txBody>
      </p:sp>
      <p:sp>
        <p:nvSpPr>
          <p:cNvPr id="19" name="Cartão de uso"/>
          <p:cNvSpPr/>
          <p:nvPr/>
        </p:nvSpPr>
        <p:spPr>
          <a:xfrm>
            <a:off x="45720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0" name="Círculo do ícone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Ícone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546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Filtros e buscas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3950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mostrar só o que o usuário pediu</a:t>
            </a:r>
            <a:endParaRPr lang="en-US" sz="1300" dirty="0"/>
          </a:p>
        </p:txBody>
      </p:sp>
      <p:sp>
        <p:nvSpPr>
          <p:cNvPr id="24" name="Cartão de uso"/>
          <p:cNvSpPr/>
          <p:nvPr/>
        </p:nvSpPr>
        <p:spPr>
          <a:xfrm>
            <a:off x="324612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5" name="Círculo do ícone"/>
          <p:cNvSpPr/>
          <p:nvPr/>
        </p:nvSpPr>
        <p:spPr>
          <a:xfrm>
            <a:off x="342900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Ícone" descr="Íc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15468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290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Rankings e tabelas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429000" y="3950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ordenar por preço, nota ou data</a:t>
            </a:r>
            <a:endParaRPr lang="en-US" sz="1300" dirty="0"/>
          </a:p>
        </p:txBody>
      </p:sp>
      <p:sp>
        <p:nvSpPr>
          <p:cNvPr id="29" name="Cartão de uso"/>
          <p:cNvSpPr/>
          <p:nvPr/>
        </p:nvSpPr>
        <p:spPr>
          <a:xfrm>
            <a:off x="603504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30" name="Círculo do ícone"/>
          <p:cNvSpPr/>
          <p:nvPr/>
        </p:nvSpPr>
        <p:spPr>
          <a:xfrm>
            <a:off x="6217920" y="3017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Ícone" descr="Íc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5468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1792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Elementos do DOM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217920" y="39502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querySelectorAll + Array.from para percorrer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Métodos essenciais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As ferramentas que todo array traz de fábrica</a:t>
            </a:r>
            <a:endParaRPr lang="en-US" sz="2000" dirty="0"/>
          </a:p>
        </p:txBody>
      </p:sp>
      <p:sp>
        <p:nvSpPr>
          <p:cNvPr id="4" name="Etiqueta"/>
          <p:cNvSpPr/>
          <p:nvPr/>
        </p:nvSpPr>
        <p:spPr>
          <a:xfrm>
            <a:off x="640080" y="3611880"/>
            <a:ext cx="1828800" cy="384048"/>
          </a:xfrm>
          <a:prstGeom prst="roundRect">
            <a:avLst>
              <a:gd name="adj" fmla="val 40476"/>
            </a:avLst>
          </a:prstGeom>
          <a:solidFill>
            <a:srgbClr val="21295C"/>
          </a:solidFill>
          <a:ln/>
        </p:spPr>
      </p:sp>
      <p:sp>
        <p:nvSpPr>
          <p:cNvPr id="5" name="Texto da etiqueta"/>
          <p:cNvSpPr txBox="1"/>
          <p:nvPr/>
        </p:nvSpPr>
        <p:spPr>
          <a:xfrm>
            <a:off x="64008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push</a:t>
            </a:r>
            <a:endParaRPr lang="en-US" sz="1500" dirty="0"/>
          </a:p>
        </p:txBody>
      </p:sp>
      <p:sp>
        <p:nvSpPr>
          <p:cNvPr id="6" name="Etiqueta"/>
          <p:cNvSpPr/>
          <p:nvPr/>
        </p:nvSpPr>
        <p:spPr>
          <a:xfrm>
            <a:off x="2651760" y="3611880"/>
            <a:ext cx="1828800" cy="384048"/>
          </a:xfrm>
          <a:prstGeom prst="roundRect">
            <a:avLst>
              <a:gd name="adj" fmla="val 40476"/>
            </a:avLst>
          </a:prstGeom>
          <a:solidFill>
            <a:srgbClr val="21295C"/>
          </a:solidFill>
          <a:ln/>
        </p:spPr>
      </p:sp>
      <p:sp>
        <p:nvSpPr>
          <p:cNvPr id="7" name="Texto da etiqueta"/>
          <p:cNvSpPr txBox="1"/>
          <p:nvPr/>
        </p:nvSpPr>
        <p:spPr>
          <a:xfrm>
            <a:off x="265176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splice</a:t>
            </a:r>
            <a:endParaRPr lang="en-US" sz="1500" dirty="0"/>
          </a:p>
        </p:txBody>
      </p:sp>
      <p:sp>
        <p:nvSpPr>
          <p:cNvPr id="8" name="Etiqueta"/>
          <p:cNvSpPr/>
          <p:nvPr/>
        </p:nvSpPr>
        <p:spPr>
          <a:xfrm>
            <a:off x="4663440" y="3611880"/>
            <a:ext cx="1828800" cy="384048"/>
          </a:xfrm>
          <a:prstGeom prst="roundRect">
            <a:avLst>
              <a:gd name="adj" fmla="val 40476"/>
            </a:avLst>
          </a:prstGeom>
          <a:solidFill>
            <a:srgbClr val="21295C"/>
          </a:solidFill>
          <a:ln/>
        </p:spPr>
      </p:sp>
      <p:sp>
        <p:nvSpPr>
          <p:cNvPr id="9" name="Texto da etiqueta"/>
          <p:cNvSpPr txBox="1"/>
          <p:nvPr/>
        </p:nvSpPr>
        <p:spPr>
          <a:xfrm>
            <a:off x="466344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find</a:t>
            </a:r>
            <a:endParaRPr lang="en-US" sz="1500" dirty="0"/>
          </a:p>
        </p:txBody>
      </p:sp>
      <p:sp>
        <p:nvSpPr>
          <p:cNvPr id="10" name="Etiqueta"/>
          <p:cNvSpPr/>
          <p:nvPr/>
        </p:nvSpPr>
        <p:spPr>
          <a:xfrm>
            <a:off x="6675120" y="3611880"/>
            <a:ext cx="1828800" cy="384048"/>
          </a:xfrm>
          <a:prstGeom prst="roundRect">
            <a:avLst>
              <a:gd name="adj" fmla="val 40476"/>
            </a:avLst>
          </a:prstGeom>
          <a:solidFill>
            <a:srgbClr val="21295C"/>
          </a:solidFill>
          <a:ln/>
        </p:spPr>
      </p:sp>
      <p:sp>
        <p:nvSpPr>
          <p:cNvPr id="11" name="Texto da etiqueta"/>
          <p:cNvSpPr txBox="1"/>
          <p:nvPr/>
        </p:nvSpPr>
        <p:spPr>
          <a:xfrm>
            <a:off x="667512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forEach</a:t>
            </a:r>
            <a:endParaRPr lang="en-US" sz="1500" dirty="0"/>
          </a:p>
        </p:txBody>
      </p:sp>
      <p:sp>
        <p:nvSpPr>
          <p:cNvPr id="12" name="Etiqueta"/>
          <p:cNvSpPr/>
          <p:nvPr/>
        </p:nvSpPr>
        <p:spPr>
          <a:xfrm>
            <a:off x="640080" y="4114800"/>
            <a:ext cx="1828800" cy="384048"/>
          </a:xfrm>
          <a:prstGeom prst="roundRect">
            <a:avLst>
              <a:gd name="adj" fmla="val 40476"/>
            </a:avLst>
          </a:prstGeom>
          <a:solidFill>
            <a:srgbClr val="21295C"/>
          </a:solidFill>
          <a:ln/>
        </p:spPr>
      </p:sp>
      <p:sp>
        <p:nvSpPr>
          <p:cNvPr id="13" name="Texto da etiqueta"/>
          <p:cNvSpPr txBox="1"/>
          <p:nvPr/>
        </p:nvSpPr>
        <p:spPr>
          <a:xfrm>
            <a:off x="64008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map</a:t>
            </a:r>
            <a:endParaRPr lang="en-US" sz="1500" dirty="0"/>
          </a:p>
        </p:txBody>
      </p:sp>
      <p:sp>
        <p:nvSpPr>
          <p:cNvPr id="14" name="Etiqueta"/>
          <p:cNvSpPr/>
          <p:nvPr/>
        </p:nvSpPr>
        <p:spPr>
          <a:xfrm>
            <a:off x="2651760" y="4114800"/>
            <a:ext cx="1828800" cy="384048"/>
          </a:xfrm>
          <a:prstGeom prst="roundRect">
            <a:avLst>
              <a:gd name="adj" fmla="val 40476"/>
            </a:avLst>
          </a:prstGeom>
          <a:solidFill>
            <a:srgbClr val="21295C"/>
          </a:solidFill>
          <a:ln/>
        </p:spPr>
      </p:sp>
      <p:sp>
        <p:nvSpPr>
          <p:cNvPr id="15" name="Texto da etiqueta"/>
          <p:cNvSpPr txBox="1"/>
          <p:nvPr/>
        </p:nvSpPr>
        <p:spPr>
          <a:xfrm>
            <a:off x="265176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filter</a:t>
            </a:r>
            <a:endParaRPr lang="en-US" sz="1500" dirty="0"/>
          </a:p>
        </p:txBody>
      </p:sp>
      <p:sp>
        <p:nvSpPr>
          <p:cNvPr id="16" name="Etiqueta"/>
          <p:cNvSpPr/>
          <p:nvPr/>
        </p:nvSpPr>
        <p:spPr>
          <a:xfrm>
            <a:off x="4663440" y="4114800"/>
            <a:ext cx="1828800" cy="384048"/>
          </a:xfrm>
          <a:prstGeom prst="roundRect">
            <a:avLst>
              <a:gd name="adj" fmla="val 40476"/>
            </a:avLst>
          </a:prstGeom>
          <a:solidFill>
            <a:srgbClr val="21295C"/>
          </a:solidFill>
          <a:ln/>
        </p:spPr>
      </p:sp>
      <p:sp>
        <p:nvSpPr>
          <p:cNvPr id="17" name="Texto da etiqueta"/>
          <p:cNvSpPr txBox="1"/>
          <p:nvPr/>
        </p:nvSpPr>
        <p:spPr>
          <a:xfrm>
            <a:off x="466344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reduce</a:t>
            </a:r>
            <a:endParaRPr lang="en-US" sz="1500" dirty="0"/>
          </a:p>
        </p:txBody>
      </p:sp>
      <p:sp>
        <p:nvSpPr>
          <p:cNvPr id="18" name="Etiqueta"/>
          <p:cNvSpPr/>
          <p:nvPr/>
        </p:nvSpPr>
        <p:spPr>
          <a:xfrm>
            <a:off x="6675120" y="4114800"/>
            <a:ext cx="1828800" cy="384048"/>
          </a:xfrm>
          <a:prstGeom prst="roundRect">
            <a:avLst>
              <a:gd name="adj" fmla="val 40476"/>
            </a:avLst>
          </a:prstGeom>
          <a:solidFill>
            <a:srgbClr val="21295C"/>
          </a:solidFill>
          <a:ln/>
        </p:spPr>
      </p:sp>
      <p:sp>
        <p:nvSpPr>
          <p:cNvPr id="19" name="Texto da etiqueta"/>
          <p:cNvSpPr txBox="1"/>
          <p:nvPr/>
        </p:nvSpPr>
        <p:spPr>
          <a:xfrm>
            <a:off x="667512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sort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Adicionar e remover itens</a:t>
            </a:r>
            <a:endParaRPr lang="en-US" sz="3400" dirty="0"/>
          </a:p>
        </p:txBody>
      </p:sp>
      <p:sp>
        <p:nvSpPr>
          <p:cNvPr id="4" name="Linha do método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097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Adiciona no fim</a:t>
            </a:r>
            <a:endParaRPr lang="en-US" sz="1500" dirty="0"/>
          </a:p>
        </p:txBody>
      </p:sp>
      <p:sp>
        <p:nvSpPr>
          <p:cNvPr id="7" name="Bloco de código"/>
          <p:cNvSpPr/>
          <p:nvPr/>
        </p:nvSpPr>
        <p:spPr>
          <a:xfrm>
            <a:off x="4572000" y="1161288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141B34"/>
          </a:solidFill>
          <a:ln/>
        </p:spPr>
      </p:sp>
      <p:sp>
        <p:nvSpPr>
          <p:cNvPr id="8" name="Código"/>
          <p:cNvSpPr txBox="1"/>
          <p:nvPr/>
        </p:nvSpPr>
        <p:spPr>
          <a:xfrm>
            <a:off x="4709160" y="120700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"Frango"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["A", "B", "Frango"]</a:t>
            </a:r>
            <a:endParaRPr lang="en-US" sz="1200" dirty="0"/>
          </a:p>
        </p:txBody>
      </p:sp>
      <p:sp>
        <p:nvSpPr>
          <p:cNvPr id="9" name="Linha do método"/>
          <p:cNvSpPr/>
          <p:nvPr/>
        </p:nvSpPr>
        <p:spPr>
          <a:xfrm>
            <a:off x="457200" y="1938528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193852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2286000" y="19385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Remove do fim</a:t>
            </a:r>
            <a:endParaRPr lang="en-US" sz="1500" dirty="0"/>
          </a:p>
        </p:txBody>
      </p:sp>
      <p:sp>
        <p:nvSpPr>
          <p:cNvPr id="12" name="Bloco de código"/>
          <p:cNvSpPr/>
          <p:nvPr/>
        </p:nvSpPr>
        <p:spPr>
          <a:xfrm>
            <a:off x="4572000" y="2002536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141B34"/>
          </a:solidFill>
          <a:ln/>
        </p:spPr>
      </p:sp>
      <p:sp>
        <p:nvSpPr>
          <p:cNvPr id="13" name="Código"/>
          <p:cNvSpPr txBox="1"/>
          <p:nvPr/>
        </p:nvSpPr>
        <p:spPr>
          <a:xfrm>
            <a:off x="4709160" y="204825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devolve "Frango"</a:t>
            </a:r>
            <a:endParaRPr lang="en-US" sz="1200" dirty="0"/>
          </a:p>
        </p:txBody>
      </p:sp>
      <p:sp>
        <p:nvSpPr>
          <p:cNvPr id="14" name="Linha do método"/>
          <p:cNvSpPr/>
          <p:nvPr/>
        </p:nvSpPr>
        <p:spPr>
          <a:xfrm>
            <a:off x="457200" y="277977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277977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unshift()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277977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Adiciona no início</a:t>
            </a:r>
            <a:endParaRPr lang="en-US" sz="1500" dirty="0"/>
          </a:p>
        </p:txBody>
      </p:sp>
      <p:sp>
        <p:nvSpPr>
          <p:cNvPr id="17" name="Bloco de código"/>
          <p:cNvSpPr/>
          <p:nvPr/>
        </p:nvSpPr>
        <p:spPr>
          <a:xfrm>
            <a:off x="4572000" y="284378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141B34"/>
          </a:solidFill>
          <a:ln/>
        </p:spPr>
      </p:sp>
      <p:sp>
        <p:nvSpPr>
          <p:cNvPr id="18" name="Código"/>
          <p:cNvSpPr txBox="1"/>
          <p:nvPr/>
        </p:nvSpPr>
        <p:spPr>
          <a:xfrm>
            <a:off x="4709160" y="288950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unshift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"Nova"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["Nova", "A", "B"]</a:t>
            </a:r>
            <a:endParaRPr lang="en-US" sz="1200" dirty="0"/>
          </a:p>
        </p:txBody>
      </p:sp>
      <p:sp>
        <p:nvSpPr>
          <p:cNvPr id="19" name="Linha do método"/>
          <p:cNvSpPr/>
          <p:nvPr/>
        </p:nvSpPr>
        <p:spPr>
          <a:xfrm>
            <a:off x="457200" y="3621024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362102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shift()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2286000" y="36210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Remove do início</a:t>
            </a:r>
            <a:endParaRPr lang="en-US" sz="1500" dirty="0"/>
          </a:p>
        </p:txBody>
      </p:sp>
      <p:sp>
        <p:nvSpPr>
          <p:cNvPr id="22" name="Bloco de código"/>
          <p:cNvSpPr/>
          <p:nvPr/>
        </p:nvSpPr>
        <p:spPr>
          <a:xfrm>
            <a:off x="4572000" y="3685032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141B34"/>
          </a:solidFill>
          <a:ln/>
        </p:spPr>
      </p:sp>
      <p:sp>
        <p:nvSpPr>
          <p:cNvPr id="23" name="Código"/>
          <p:cNvSpPr txBox="1"/>
          <p:nvPr/>
        </p:nvSpPr>
        <p:spPr>
          <a:xfrm>
            <a:off x="4709160" y="3730752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devolve "Nova"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Todos mudam o array original.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splice e slice</a:t>
            </a:r>
            <a:endParaRPr lang="en-US" sz="3400" dirty="0"/>
          </a:p>
        </p:txBody>
      </p:sp>
      <p:sp>
        <p:nvSpPr>
          <p:cNvPr id="4" name="Etiqueta"/>
          <p:cNvSpPr/>
          <p:nvPr/>
        </p:nvSpPr>
        <p:spPr>
          <a:xfrm>
            <a:off x="457200" y="1097280"/>
            <a:ext cx="29260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" name="Texto da etiqueta"/>
          <p:cNvSpPr txBox="1"/>
          <p:nvPr/>
        </p:nvSpPr>
        <p:spPr>
          <a:xfrm>
            <a:off x="457200" y="10972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splice  |  MUDA o original</a:t>
            </a:r>
            <a:endParaRPr lang="en-US" sz="1300" dirty="0"/>
          </a:p>
        </p:txBody>
      </p:sp>
      <p:sp>
        <p:nvSpPr>
          <p:cNvPr id="6" name="Etiqueta"/>
          <p:cNvSpPr/>
          <p:nvPr/>
        </p:nvSpPr>
        <p:spPr>
          <a:xfrm>
            <a:off x="4663440" y="1097280"/>
            <a:ext cx="32918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7" name="Texto da etiqueta"/>
          <p:cNvSpPr txBox="1"/>
          <p:nvPr/>
        </p:nvSpPr>
        <p:spPr>
          <a:xfrm>
            <a:off x="4663440" y="10972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slice  |  NÃO muda o original</a:t>
            </a:r>
            <a:endParaRPr lang="en-US" sz="1300" dirty="0"/>
          </a:p>
        </p:txBody>
      </p:sp>
      <p:sp>
        <p:nvSpPr>
          <p:cNvPr id="8" name="Bloco de código"/>
          <p:cNvSpPr/>
          <p:nvPr/>
        </p:nvSpPr>
        <p:spPr>
          <a:xfrm>
            <a:off x="457200" y="155448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141B34"/>
          </a:solidFill>
          <a:ln/>
        </p:spPr>
      </p:sp>
      <p:sp>
        <p:nvSpPr>
          <p:cNvPr id="9" name="Código"/>
          <p:cNvSpPr txBox="1"/>
          <p:nvPr/>
        </p:nvSpPr>
        <p:spPr>
          <a:xfrm>
            <a:off x="594360" y="16002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[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removeu [20, 30]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 → [10,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 → [10, 99, 40, 50]</a:t>
            </a:r>
            <a:endParaRPr lang="en-US" sz="1200" dirty="0"/>
          </a:p>
        </p:txBody>
      </p:sp>
      <p:sp>
        <p:nvSpPr>
          <p:cNvPr id="10" name="Bloco de código"/>
          <p:cNvSpPr/>
          <p:nvPr/>
        </p:nvSpPr>
        <p:spPr>
          <a:xfrm>
            <a:off x="4663440" y="155448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141B34"/>
          </a:solidFill>
          <a:ln/>
        </p:spPr>
      </p:sp>
      <p:sp>
        <p:nvSpPr>
          <p:cNvPr id="11" name="Código"/>
          <p:cNvSpPr txBox="1"/>
          <p:nvPr/>
        </p:nvSpPr>
        <p:spPr>
          <a:xfrm>
            <a:off x="4800600" y="16002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[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[20, 30]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</a:t>
            </a:r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</a:t>
            </a:r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cópia de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 continua igual</a:t>
            </a:r>
            <a:endParaRPr lang="en-US" sz="1200" dirty="0"/>
          </a:p>
        </p:txBody>
      </p:sp>
      <p:sp>
        <p:nvSpPr>
          <p:cNvPr id="12" name="Sintaxe"/>
          <p:cNvSpPr/>
          <p:nvPr/>
        </p:nvSpPr>
        <p:spPr>
          <a:xfrm>
            <a:off x="457200" y="35204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splice(início, quantosRemover, ...inserir)</a:t>
            </a:r>
            <a:endParaRPr lang="en-US" sz="1400" dirty="0"/>
          </a:p>
        </p:txBody>
      </p:sp>
      <p:sp>
        <p:nvSpPr>
          <p:cNvPr id="14" name="Sintaxe"/>
          <p:cNvSpPr/>
          <p:nvPr/>
        </p:nvSpPr>
        <p:spPr>
          <a:xfrm>
            <a:off x="4663440" y="352044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0060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slice(início, fim)  →  o fim não entra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Buscando elementos</a:t>
            </a:r>
            <a:endParaRPr lang="en-US" sz="3400" dirty="0"/>
          </a:p>
        </p:txBody>
      </p:sp>
      <p:sp>
        <p:nvSpPr>
          <p:cNvPr id="4" name="Bloco de código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141B34"/>
          </a:solidFill>
          <a:ln/>
        </p:spPr>
      </p:sp>
      <p:sp>
        <p:nvSpPr>
          <p:cNvPr id="5" name="Código"/>
          <p:cNvSpPr txBox="1"/>
          <p:nvPr/>
        </p:nvSpPr>
        <p:spPr>
          <a:xfrm>
            <a:off x="594360" y="10972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sabores = [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"Calabresa"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"Marguerita"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"Frango"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precos = [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</p:txBody>
      </p:sp>
      <p:sp>
        <p:nvSpPr>
          <p:cNvPr id="6" name="Método de busca"/>
          <p:cNvSpPr/>
          <p:nvPr/>
        </p:nvSpPr>
        <p:spPr>
          <a:xfrm>
            <a:off x="457200" y="182880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indexOf()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Posição do item (ou -1 se não achar)</a:t>
            </a:r>
            <a:endParaRPr lang="en-US" sz="1300" dirty="0"/>
          </a:p>
        </p:txBody>
      </p:sp>
      <p:sp>
        <p:nvSpPr>
          <p:cNvPr id="9" name="Bloco de código"/>
          <p:cNvSpPr/>
          <p:nvPr/>
        </p:nvSpPr>
        <p:spPr>
          <a:xfrm>
            <a:off x="594360" y="2542032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141B34"/>
          </a:solidFill>
          <a:ln/>
        </p:spPr>
      </p:sp>
      <p:sp>
        <p:nvSpPr>
          <p:cNvPr id="10" name="Código"/>
          <p:cNvSpPr txBox="1"/>
          <p:nvPr/>
        </p:nvSpPr>
        <p:spPr>
          <a:xfrm>
            <a:off x="731520" y="2587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"Frango"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200" dirty="0"/>
          </a:p>
        </p:txBody>
      </p:sp>
      <p:sp>
        <p:nvSpPr>
          <p:cNvPr id="11" name="Método de busca"/>
          <p:cNvSpPr/>
          <p:nvPr/>
        </p:nvSpPr>
        <p:spPr>
          <a:xfrm>
            <a:off x="4663440" y="182880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includes()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item existe? Devolve true ou false</a:t>
            </a:r>
            <a:endParaRPr lang="en-US" sz="1300" dirty="0"/>
          </a:p>
        </p:txBody>
      </p:sp>
      <p:sp>
        <p:nvSpPr>
          <p:cNvPr id="14" name="Bloco de código"/>
          <p:cNvSpPr/>
          <p:nvPr/>
        </p:nvSpPr>
        <p:spPr>
          <a:xfrm>
            <a:off x="4800600" y="2542032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141B34"/>
          </a:solidFill>
          <a:ln/>
        </p:spPr>
      </p:sp>
      <p:sp>
        <p:nvSpPr>
          <p:cNvPr id="15" name="Código"/>
          <p:cNvSpPr txBox="1"/>
          <p:nvPr/>
        </p:nvSpPr>
        <p:spPr>
          <a:xfrm>
            <a:off x="4937760" y="2587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"Pizza"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00" dirty="0"/>
          </a:p>
        </p:txBody>
      </p:sp>
      <p:sp>
        <p:nvSpPr>
          <p:cNvPr id="16" name="Método de busca"/>
          <p:cNvSpPr/>
          <p:nvPr/>
        </p:nvSpPr>
        <p:spPr>
          <a:xfrm>
            <a:off x="457200" y="320040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Primeiro item que passa no teste</a:t>
            </a:r>
            <a:endParaRPr lang="en-US" sz="1300" dirty="0"/>
          </a:p>
        </p:txBody>
      </p:sp>
      <p:sp>
        <p:nvSpPr>
          <p:cNvPr id="19" name="Bloco de código"/>
          <p:cNvSpPr/>
          <p:nvPr/>
        </p:nvSpPr>
        <p:spPr>
          <a:xfrm>
            <a:off x="594360" y="3913632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141B34"/>
          </a:solidFill>
          <a:ln/>
        </p:spPr>
      </p:sp>
      <p:sp>
        <p:nvSpPr>
          <p:cNvPr id="20" name="Código"/>
          <p:cNvSpPr txBox="1"/>
          <p:nvPr/>
        </p:nvSpPr>
        <p:spPr>
          <a:xfrm>
            <a:off x="731520" y="3959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=&gt; p &gt;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</a:t>
            </a:r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45</a:t>
            </a:r>
            <a:endParaRPr lang="en-US" sz="1200" dirty="0"/>
          </a:p>
        </p:txBody>
      </p:sp>
      <p:sp>
        <p:nvSpPr>
          <p:cNvPr id="21" name="Método de busca"/>
          <p:cNvSpPr/>
          <p:nvPr/>
        </p:nvSpPr>
        <p:spPr>
          <a:xfrm>
            <a:off x="4663440" y="320040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0060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findIndex()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80060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Posição do primeiro que passa no teste</a:t>
            </a:r>
            <a:endParaRPr lang="en-US" sz="1300" dirty="0"/>
          </a:p>
        </p:txBody>
      </p:sp>
      <p:sp>
        <p:nvSpPr>
          <p:cNvPr id="24" name="Bloco de código"/>
          <p:cNvSpPr/>
          <p:nvPr/>
        </p:nvSpPr>
        <p:spPr>
          <a:xfrm>
            <a:off x="4800600" y="3913632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141B34"/>
          </a:solidFill>
          <a:ln/>
        </p:spPr>
      </p:sp>
      <p:sp>
        <p:nvSpPr>
          <p:cNvPr id="25" name="Código"/>
          <p:cNvSpPr txBox="1"/>
          <p:nvPr/>
        </p:nvSpPr>
        <p:spPr>
          <a:xfrm>
            <a:off x="4937760" y="3959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=&gt; p &gt;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Percorrendo um array</a:t>
            </a:r>
            <a:endParaRPr lang="en-US" sz="3400" dirty="0"/>
          </a:p>
        </p:txBody>
      </p:sp>
      <p:sp>
        <p:nvSpPr>
          <p:cNvPr id="4" name="Rótulo do laço"/>
          <p:cNvSpPr/>
          <p:nvPr/>
        </p:nvSpPr>
        <p:spPr>
          <a:xfrm>
            <a:off x="457200" y="109728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207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clássico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54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precisa do índice ou de break</a:t>
            </a:r>
            <a:endParaRPr lang="en-US" sz="1300" dirty="0"/>
          </a:p>
        </p:txBody>
      </p:sp>
      <p:sp>
        <p:nvSpPr>
          <p:cNvPr id="7" name="Bloco de código"/>
          <p:cNvSpPr/>
          <p:nvPr/>
        </p:nvSpPr>
        <p:spPr>
          <a:xfrm>
            <a:off x="2971800" y="1097280"/>
            <a:ext cx="5715000" cy="914400"/>
          </a:xfrm>
          <a:prstGeom prst="roundRect">
            <a:avLst>
              <a:gd name="adj" fmla="val 6000"/>
            </a:avLst>
          </a:prstGeom>
          <a:solidFill>
            <a:srgbClr val="141B34"/>
          </a:solidFill>
          <a:ln/>
        </p:spPr>
      </p:sp>
      <p:sp>
        <p:nvSpPr>
          <p:cNvPr id="8" name="Código"/>
          <p:cNvSpPr txBox="1"/>
          <p:nvPr/>
        </p:nvSpPr>
        <p:spPr>
          <a:xfrm>
            <a:off x="3108960" y="11430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sabores.length; i++)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(i, sabores[i]);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Rótulo do laço"/>
          <p:cNvSpPr/>
          <p:nvPr/>
        </p:nvSpPr>
        <p:spPr>
          <a:xfrm>
            <a:off x="457200" y="2121408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223113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for...of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5786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só interessa o valor</a:t>
            </a:r>
            <a:endParaRPr lang="en-US" sz="1300" dirty="0"/>
          </a:p>
        </p:txBody>
      </p:sp>
      <p:sp>
        <p:nvSpPr>
          <p:cNvPr id="12" name="Bloco de código"/>
          <p:cNvSpPr/>
          <p:nvPr/>
        </p:nvSpPr>
        <p:spPr>
          <a:xfrm>
            <a:off x="2971800" y="2121408"/>
            <a:ext cx="5715000" cy="914400"/>
          </a:xfrm>
          <a:prstGeom prst="roundRect">
            <a:avLst>
              <a:gd name="adj" fmla="val 6000"/>
            </a:avLst>
          </a:prstGeom>
          <a:solidFill>
            <a:srgbClr val="141B34"/>
          </a:solidFill>
          <a:ln/>
        </p:spPr>
      </p:sp>
      <p:sp>
        <p:nvSpPr>
          <p:cNvPr id="13" name="Código"/>
          <p:cNvSpPr txBox="1"/>
          <p:nvPr/>
        </p:nvSpPr>
        <p:spPr>
          <a:xfrm>
            <a:off x="3108960" y="216712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 </a:t>
            </a:r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sabores)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(sabor);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Rótulo do laço"/>
          <p:cNvSpPr/>
          <p:nvPr/>
        </p:nvSpPr>
        <p:spPr>
          <a:xfrm>
            <a:off x="457200" y="3145536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32552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60273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executa uma função por item</a:t>
            </a:r>
            <a:endParaRPr lang="en-US" sz="1300" dirty="0"/>
          </a:p>
        </p:txBody>
      </p:sp>
      <p:sp>
        <p:nvSpPr>
          <p:cNvPr id="17" name="Bloco de código"/>
          <p:cNvSpPr/>
          <p:nvPr/>
        </p:nvSpPr>
        <p:spPr>
          <a:xfrm>
            <a:off x="2971800" y="3145536"/>
            <a:ext cx="5715000" cy="914400"/>
          </a:xfrm>
          <a:prstGeom prst="roundRect">
            <a:avLst>
              <a:gd name="adj" fmla="val 6000"/>
            </a:avLst>
          </a:prstGeom>
          <a:solidFill>
            <a:srgbClr val="141B34"/>
          </a:solidFill>
          <a:ln/>
        </p:spPr>
      </p:sp>
      <p:sp>
        <p:nvSpPr>
          <p:cNvPr id="18" name="Código"/>
          <p:cNvSpPr txBox="1"/>
          <p:nvPr/>
        </p:nvSpPr>
        <p:spPr>
          <a:xfrm>
            <a:off x="3108960" y="3191256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((sabor, i)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(i, sabor);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19" name="Aviso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forEach não devolve nada e não aceita break: para transformar dados, use map.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map: transformar cada item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entrada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74904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função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saída</a:t>
            </a:r>
            <a:endParaRPr lang="en-US" sz="1200" dirty="0"/>
          </a:p>
        </p:txBody>
      </p:sp>
      <p:sp>
        <p:nvSpPr>
          <p:cNvPr id="7" name="Item de entrada"/>
          <p:cNvSpPr/>
          <p:nvPr/>
        </p:nvSpPr>
        <p:spPr>
          <a:xfrm>
            <a:off x="457200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30</a:t>
            </a:r>
            <a:endParaRPr lang="en-US" sz="1500" dirty="0"/>
          </a:p>
        </p:txBody>
      </p:sp>
      <p:sp>
        <p:nvSpPr>
          <p:cNvPr id="9" name="Item de entrada"/>
          <p:cNvSpPr/>
          <p:nvPr/>
        </p:nvSpPr>
        <p:spPr>
          <a:xfrm>
            <a:off x="1170432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70432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35</a:t>
            </a:r>
            <a:endParaRPr lang="en-US" sz="1500" dirty="0"/>
          </a:p>
        </p:txBody>
      </p:sp>
      <p:sp>
        <p:nvSpPr>
          <p:cNvPr id="11" name="Item de entrada"/>
          <p:cNvSpPr/>
          <p:nvPr/>
        </p:nvSpPr>
        <p:spPr>
          <a:xfrm>
            <a:off x="1883664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883664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45</a:t>
            </a:r>
            <a:endParaRPr lang="en-US" sz="1500" dirty="0"/>
          </a:p>
        </p:txBody>
      </p:sp>
      <p:sp>
        <p:nvSpPr>
          <p:cNvPr id="13" name="Seta"/>
          <p:cNvSpPr/>
          <p:nvPr/>
        </p:nvSpPr>
        <p:spPr>
          <a:xfrm>
            <a:off x="3337560" y="1554480"/>
            <a:ext cx="320040" cy="32004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4" name="Função"/>
          <p:cNvSpPr/>
          <p:nvPr/>
        </p:nvSpPr>
        <p:spPr>
          <a:xfrm>
            <a:off x="3749040" y="1444752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749040" y="1444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=&gt; p + 5</a:t>
            </a:r>
            <a:endParaRPr lang="en-US" sz="1400" dirty="0"/>
          </a:p>
        </p:txBody>
      </p:sp>
      <p:sp>
        <p:nvSpPr>
          <p:cNvPr id="16" name="Seta"/>
          <p:cNvSpPr/>
          <p:nvPr/>
        </p:nvSpPr>
        <p:spPr>
          <a:xfrm>
            <a:off x="5669280" y="1554480"/>
            <a:ext cx="320040" cy="32004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7" name="Item de saída"/>
          <p:cNvSpPr/>
          <p:nvPr/>
        </p:nvSpPr>
        <p:spPr>
          <a:xfrm>
            <a:off x="6126480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2648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35</a:t>
            </a:r>
            <a:endParaRPr lang="en-US" sz="1500" dirty="0"/>
          </a:p>
        </p:txBody>
      </p:sp>
      <p:sp>
        <p:nvSpPr>
          <p:cNvPr id="19" name="Item de saída"/>
          <p:cNvSpPr/>
          <p:nvPr/>
        </p:nvSpPr>
        <p:spPr>
          <a:xfrm>
            <a:off x="6839712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39712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40</a:t>
            </a:r>
            <a:endParaRPr lang="en-US" sz="1500" dirty="0"/>
          </a:p>
        </p:txBody>
      </p:sp>
      <p:sp>
        <p:nvSpPr>
          <p:cNvPr id="21" name="Item de saída"/>
          <p:cNvSpPr/>
          <p:nvPr/>
        </p:nvSpPr>
        <p:spPr>
          <a:xfrm>
            <a:off x="7552944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552944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</a:t>
            </a:r>
            <a:endParaRPr lang="en-US" sz="1500" dirty="0"/>
          </a:p>
        </p:txBody>
      </p:sp>
      <p:sp>
        <p:nvSpPr>
          <p:cNvPr id="23" name="Bloco de código"/>
          <p:cNvSpPr/>
          <p:nvPr/>
        </p:nvSpPr>
        <p:spPr>
          <a:xfrm>
            <a:off x="457200" y="2331720"/>
            <a:ext cx="4846320" cy="1645920"/>
          </a:xfrm>
          <a:prstGeom prst="roundRect">
            <a:avLst>
              <a:gd name="adj" fmla="val 3333"/>
            </a:avLst>
          </a:prstGeom>
          <a:solidFill>
            <a:srgbClr val="141B34"/>
          </a:solidFill>
          <a:ln/>
        </p:spPr>
      </p:sp>
      <p:sp>
        <p:nvSpPr>
          <p:cNvPr id="24" name="Código"/>
          <p:cNvSpPr txBox="1"/>
          <p:nvPr/>
        </p:nvSpPr>
        <p:spPr>
          <a:xfrm>
            <a:off x="594360" y="23774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precos = [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novos = precos.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=&gt; p +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novos → [35,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 =&gt; 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toUpperCase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</p:txBody>
      </p:sp>
      <p:sp>
        <p:nvSpPr>
          <p:cNvPr id="25" name="Regras do map"/>
          <p:cNvSpPr/>
          <p:nvPr/>
        </p:nvSpPr>
        <p:spPr>
          <a:xfrm>
            <a:off x="5486400" y="2331720"/>
            <a:ext cx="3200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669280" y="2423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Devolve um novo array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Mesmo tamanho do original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Não altera o original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função precisa de return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 map quando quiser transformar todos os itens.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filter: escolher itens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entrada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74904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função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saída</a:t>
            </a:r>
            <a:endParaRPr lang="en-US" sz="1200" dirty="0"/>
          </a:p>
        </p:txBody>
      </p:sp>
      <p:sp>
        <p:nvSpPr>
          <p:cNvPr id="7" name="Item de entrada"/>
          <p:cNvSpPr/>
          <p:nvPr/>
        </p:nvSpPr>
        <p:spPr>
          <a:xfrm>
            <a:off x="457200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5DBE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rgbClr val="5B6577"/>
                </a:solidFill>
              </a:rPr>
              <a:t>30</a:t>
            </a:r>
            <a:endParaRPr lang="en-US" sz="1500" dirty="0"/>
          </a:p>
        </p:txBody>
      </p:sp>
      <p:sp>
        <p:nvSpPr>
          <p:cNvPr id="9" name="Item de entrada"/>
          <p:cNvSpPr/>
          <p:nvPr/>
        </p:nvSpPr>
        <p:spPr>
          <a:xfrm>
            <a:off x="1170432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5DBE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70432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trike="sngStrike" dirty="0">
                <a:solidFill>
                  <a:srgbClr val="5B6577"/>
                </a:solidFill>
              </a:rPr>
              <a:t>35</a:t>
            </a:r>
            <a:endParaRPr lang="en-US" sz="1500" dirty="0"/>
          </a:p>
        </p:txBody>
      </p:sp>
      <p:sp>
        <p:nvSpPr>
          <p:cNvPr id="11" name="Item de entrada"/>
          <p:cNvSpPr/>
          <p:nvPr/>
        </p:nvSpPr>
        <p:spPr>
          <a:xfrm>
            <a:off x="1883664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883664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45</a:t>
            </a:r>
            <a:endParaRPr lang="en-US" sz="1500" dirty="0"/>
          </a:p>
        </p:txBody>
      </p:sp>
      <p:sp>
        <p:nvSpPr>
          <p:cNvPr id="13" name="Item de entrada"/>
          <p:cNvSpPr/>
          <p:nvPr/>
        </p:nvSpPr>
        <p:spPr>
          <a:xfrm>
            <a:off x="2596896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596896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</a:t>
            </a:r>
            <a:endParaRPr lang="en-US" sz="1500" dirty="0"/>
          </a:p>
        </p:txBody>
      </p:sp>
      <p:sp>
        <p:nvSpPr>
          <p:cNvPr id="15" name="Seta"/>
          <p:cNvSpPr/>
          <p:nvPr/>
        </p:nvSpPr>
        <p:spPr>
          <a:xfrm>
            <a:off x="3337560" y="1554480"/>
            <a:ext cx="320040" cy="32004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6" name="Função"/>
          <p:cNvSpPr/>
          <p:nvPr/>
        </p:nvSpPr>
        <p:spPr>
          <a:xfrm>
            <a:off x="3749040" y="1444752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749040" y="1444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=&gt; p &gt; 40</a:t>
            </a:r>
            <a:endParaRPr lang="en-US" sz="1400" dirty="0"/>
          </a:p>
        </p:txBody>
      </p:sp>
      <p:sp>
        <p:nvSpPr>
          <p:cNvPr id="18" name="Seta"/>
          <p:cNvSpPr/>
          <p:nvPr/>
        </p:nvSpPr>
        <p:spPr>
          <a:xfrm>
            <a:off x="5669280" y="1554480"/>
            <a:ext cx="320040" cy="320040"/>
          </a:xfrm>
          <a:prstGeom prst="rightArrow">
            <a:avLst/>
          </a:prstGeom>
          <a:solidFill>
            <a:srgbClr val="6B7A90"/>
          </a:solidFill>
          <a:ln/>
        </p:spPr>
      </p:sp>
      <p:sp>
        <p:nvSpPr>
          <p:cNvPr id="19" name="Item de saída"/>
          <p:cNvSpPr/>
          <p:nvPr/>
        </p:nvSpPr>
        <p:spPr>
          <a:xfrm>
            <a:off x="6126480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12648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45</a:t>
            </a:r>
            <a:endParaRPr lang="en-US" sz="1500" dirty="0"/>
          </a:p>
        </p:txBody>
      </p:sp>
      <p:sp>
        <p:nvSpPr>
          <p:cNvPr id="21" name="Item de saída"/>
          <p:cNvSpPr/>
          <p:nvPr/>
        </p:nvSpPr>
        <p:spPr>
          <a:xfrm>
            <a:off x="6839712" y="14630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39712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</a:t>
            </a:r>
            <a:endParaRPr lang="en-US" sz="1500" dirty="0"/>
          </a:p>
        </p:txBody>
      </p:sp>
      <p:sp>
        <p:nvSpPr>
          <p:cNvPr id="23" name="Bloco de código"/>
          <p:cNvSpPr/>
          <p:nvPr/>
        </p:nvSpPr>
        <p:spPr>
          <a:xfrm>
            <a:off x="457200" y="2331720"/>
            <a:ext cx="4846320" cy="1645920"/>
          </a:xfrm>
          <a:prstGeom prst="roundRect">
            <a:avLst>
              <a:gd name="adj" fmla="val 3333"/>
            </a:avLst>
          </a:prstGeom>
          <a:solidFill>
            <a:srgbClr val="141B34"/>
          </a:solidFill>
          <a:ln/>
        </p:spPr>
      </p:sp>
      <p:sp>
        <p:nvSpPr>
          <p:cNvPr id="24" name="Código"/>
          <p:cNvSpPr txBox="1"/>
          <p:nvPr/>
        </p:nvSpPr>
        <p:spPr>
          <a:xfrm>
            <a:off x="594360" y="23774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precos = [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caros = precos.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=&gt; p &gt;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caros → [45,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 =&gt; s.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</p:txBody>
      </p:sp>
      <p:sp>
        <p:nvSpPr>
          <p:cNvPr id="25" name="Regras do filter"/>
          <p:cNvSpPr/>
          <p:nvPr/>
        </p:nvSpPr>
        <p:spPr>
          <a:xfrm>
            <a:off x="5486400" y="2331720"/>
            <a:ext cx="3200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669280" y="2423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Devolve um novo array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 passa quem retorna true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Pode vir vazio: []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Não altera o original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 filter quando quiser selecionar parte dos itens.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reduce: reduzir a um valor</a:t>
            </a:r>
            <a:endParaRPr lang="en-US" sz="3400" dirty="0"/>
          </a:p>
        </p:txBody>
      </p:sp>
      <p:sp>
        <p:nvSpPr>
          <p:cNvPr id="4" name="Bloco de código"/>
          <p:cNvSpPr/>
          <p:nvPr/>
        </p:nvSpPr>
        <p:spPr>
          <a:xfrm>
            <a:off x="457200" y="109728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141B34"/>
          </a:solidFill>
          <a:ln/>
        </p:spPr>
      </p:sp>
      <p:sp>
        <p:nvSpPr>
          <p:cNvPr id="5" name="Código"/>
          <p:cNvSpPr txBox="1"/>
          <p:nvPr/>
        </p:nvSpPr>
        <p:spPr>
          <a:xfrm>
            <a:off x="594360" y="114300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precos = [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precos.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(acc, p) =&gt; acc + p,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 → 110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9144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Volta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retorno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35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65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65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</a:rPr>
                        <a:t>45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</a:rPr>
                        <a:t>110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</a:tr>
            </a:tbl>
          </a:graphicData>
        </a:graphic>
      </p:graphicFrame>
      <p:sp>
        <p:nvSpPr>
          <p:cNvPr id="7" name="Explicação"/>
          <p:cNvSpPr/>
          <p:nvPr/>
        </p:nvSpPr>
        <p:spPr>
          <a:xfrm>
            <a:off x="45720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acumulador: guarda o resultado parcial</a:t>
            </a:r>
            <a:endParaRPr lang="en-US" sz="1400" dirty="0"/>
          </a:p>
        </p:txBody>
      </p:sp>
      <p:sp>
        <p:nvSpPr>
          <p:cNvPr id="10" name="Explicação"/>
          <p:cNvSpPr/>
          <p:nvPr/>
        </p:nvSpPr>
        <p:spPr>
          <a:xfrm>
            <a:off x="324612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item atual da volta</a:t>
            </a:r>
            <a:endParaRPr lang="en-US" sz="1400" dirty="0"/>
          </a:p>
        </p:txBody>
      </p:sp>
      <p:sp>
        <p:nvSpPr>
          <p:cNvPr id="13" name="Explicação"/>
          <p:cNvSpPr/>
          <p:nvPr/>
        </p:nvSpPr>
        <p:spPr>
          <a:xfrm>
            <a:off x="603504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21792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valor inicial do acumulador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Ordenar, juntar e combinar</a:t>
            </a:r>
            <a:endParaRPr lang="en-US" sz="3400" dirty="0"/>
          </a:p>
        </p:txBody>
      </p:sp>
      <p:sp>
        <p:nvSpPr>
          <p:cNvPr id="4" name="Método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sort()  (muda o original)</a:t>
            </a:r>
            <a:endParaRPr lang="en-US" sz="1500" dirty="0"/>
          </a:p>
        </p:txBody>
      </p:sp>
      <p:sp>
        <p:nvSpPr>
          <p:cNvPr id="6" name="Bloco de código"/>
          <p:cNvSpPr/>
          <p:nvPr/>
        </p:nvSpPr>
        <p:spPr>
          <a:xfrm>
            <a:off x="594360" y="1508760"/>
            <a:ext cx="3749040" cy="1170432"/>
          </a:xfrm>
          <a:prstGeom prst="roundRect">
            <a:avLst>
              <a:gd name="adj" fmla="val 4688"/>
            </a:avLst>
          </a:prstGeom>
          <a:solidFill>
            <a:srgbClr val="141B34"/>
          </a:solidFill>
          <a:ln/>
        </p:spPr>
      </p:sp>
      <p:sp>
        <p:nvSpPr>
          <p:cNvPr id="7" name="Código"/>
          <p:cNvSpPr txBox="1"/>
          <p:nvPr/>
        </p:nvSpPr>
        <p:spPr>
          <a:xfrm>
            <a:off x="731520" y="1554480"/>
            <a:ext cx="3474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10, 3]  (como texto!)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((a, b) =&gt; a - b);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3, 10]</a:t>
            </a:r>
            <a:endParaRPr lang="en-US" sz="1100" dirty="0"/>
          </a:p>
        </p:txBody>
      </p:sp>
      <p:sp>
        <p:nvSpPr>
          <p:cNvPr id="8" name="Método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0060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reverse()  (muda o original)</a:t>
            </a:r>
            <a:endParaRPr lang="en-US" sz="1500" dirty="0"/>
          </a:p>
        </p:txBody>
      </p:sp>
      <p:sp>
        <p:nvSpPr>
          <p:cNvPr id="10" name="Bloco de código"/>
          <p:cNvSpPr/>
          <p:nvPr/>
        </p:nvSpPr>
        <p:spPr>
          <a:xfrm>
            <a:off x="4800600" y="1508760"/>
            <a:ext cx="3749040" cy="1170432"/>
          </a:xfrm>
          <a:prstGeom prst="roundRect">
            <a:avLst>
              <a:gd name="adj" fmla="val 4688"/>
            </a:avLst>
          </a:prstGeom>
          <a:solidFill>
            <a:srgbClr val="141B34"/>
          </a:solidFill>
          <a:ln/>
        </p:spPr>
      </p:sp>
      <p:sp>
        <p:nvSpPr>
          <p:cNvPr id="11" name="Código"/>
          <p:cNvSpPr txBox="1"/>
          <p:nvPr/>
        </p:nvSpPr>
        <p:spPr>
          <a:xfrm>
            <a:off x="4937760" y="1554480"/>
            <a:ext cx="3474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[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 → [3, 2, 1]</a:t>
            </a:r>
            <a:endParaRPr lang="en-US" sz="1100" dirty="0"/>
          </a:p>
        </p:txBody>
      </p:sp>
      <p:sp>
        <p:nvSpPr>
          <p:cNvPr id="12" name="Método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join()  (vira texto)</a:t>
            </a:r>
            <a:endParaRPr lang="en-US" sz="1500" dirty="0"/>
          </a:p>
        </p:txBody>
      </p:sp>
      <p:sp>
        <p:nvSpPr>
          <p:cNvPr id="14" name="Bloco de código"/>
          <p:cNvSpPr/>
          <p:nvPr/>
        </p:nvSpPr>
        <p:spPr>
          <a:xfrm>
            <a:off x="594360" y="3291840"/>
            <a:ext cx="3749040" cy="1170432"/>
          </a:xfrm>
          <a:prstGeom prst="roundRect">
            <a:avLst>
              <a:gd name="adj" fmla="val 4688"/>
            </a:avLst>
          </a:prstGeom>
          <a:solidFill>
            <a:srgbClr val="141B34"/>
          </a:solidFill>
          <a:ln/>
        </p:spPr>
      </p:sp>
      <p:sp>
        <p:nvSpPr>
          <p:cNvPr id="15" name="Código"/>
          <p:cNvSpPr txBox="1"/>
          <p:nvPr/>
        </p:nvSpPr>
        <p:spPr>
          <a:xfrm>
            <a:off x="731520" y="3337560"/>
            <a:ext cx="3474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= [</a:t>
            </a:r>
            <a:pPr indent="0" marL="0">
              <a:buNone/>
            </a:pPr>
            <a:r>
              <a:rPr lang="en-US" sz="11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 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 - B - C"</a:t>
            </a:r>
            <a:endParaRPr lang="en-US" sz="1100" dirty="0"/>
          </a:p>
        </p:txBody>
      </p:sp>
      <p:sp>
        <p:nvSpPr>
          <p:cNvPr id="16" name="Método"/>
          <p:cNvSpPr/>
          <p:nvPr/>
        </p:nvSpPr>
        <p:spPr>
          <a:xfrm>
            <a:off x="4663440" y="288036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00600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concat() e spread  (juntar)</a:t>
            </a:r>
            <a:endParaRPr lang="en-US" sz="1500" dirty="0"/>
          </a:p>
        </p:txBody>
      </p:sp>
      <p:sp>
        <p:nvSpPr>
          <p:cNvPr id="18" name="Bloco de código"/>
          <p:cNvSpPr/>
          <p:nvPr/>
        </p:nvSpPr>
        <p:spPr>
          <a:xfrm>
            <a:off x="4800600" y="3291840"/>
            <a:ext cx="3749040" cy="1170432"/>
          </a:xfrm>
          <a:prstGeom prst="roundRect">
            <a:avLst>
              <a:gd name="adj" fmla="val 4688"/>
            </a:avLst>
          </a:prstGeom>
          <a:solidFill>
            <a:srgbClr val="141B34"/>
          </a:solidFill>
          <a:ln/>
        </p:spPr>
      </p:sp>
      <p:sp>
        <p:nvSpPr>
          <p:cNvPr id="19" name="Código"/>
          <p:cNvSpPr txBox="1"/>
          <p:nvPr/>
        </p:nvSpPr>
        <p:spPr>
          <a:xfrm>
            <a:off x="4937760" y="3337560"/>
            <a:ext cx="3474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[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b = [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(b);     </a:t>
            </a:r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2, 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[...a, ...b];    </a:t>
            </a:r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2, 3]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some, every e flat</a:t>
            </a:r>
            <a:endParaRPr lang="en-US" sz="3400" dirty="0"/>
          </a:p>
        </p:txBody>
      </p:sp>
      <p:sp>
        <p:nvSpPr>
          <p:cNvPr id="4" name="Bloco de código"/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41B34"/>
          </a:solidFill>
          <a:ln/>
        </p:spPr>
      </p:sp>
      <p:sp>
        <p:nvSpPr>
          <p:cNvPr id="5" name="Código"/>
          <p:cNvSpPr txBox="1"/>
          <p:nvPr/>
        </p:nvSpPr>
        <p:spPr>
          <a:xfrm>
            <a:off x="594360" y="1143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precos = [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   </a:t>
            </a:r>
            <a:pPr indent="0" marL="0">
              <a:buNone/>
            </a:pPr>
            <a:r>
              <a:rPr lang="en-US" sz="13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usado em some e every</a:t>
            </a:r>
            <a:endParaRPr lang="en-US" sz="1300" dirty="0"/>
          </a:p>
        </p:txBody>
      </p:sp>
      <p:sp>
        <p:nvSpPr>
          <p:cNvPr id="6" name="Método"/>
          <p:cNvSpPr/>
          <p:nvPr/>
        </p:nvSpPr>
        <p:spPr>
          <a:xfrm>
            <a:off x="457200" y="173736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some()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Pelo menos um item passa no teste?</a:t>
            </a:r>
            <a:endParaRPr lang="en-US" sz="1500" dirty="0"/>
          </a:p>
        </p:txBody>
      </p:sp>
      <p:sp>
        <p:nvSpPr>
          <p:cNvPr id="9" name="Bloco de código"/>
          <p:cNvSpPr/>
          <p:nvPr/>
        </p:nvSpPr>
        <p:spPr>
          <a:xfrm>
            <a:off x="548640" y="320040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141B34"/>
          </a:solidFill>
          <a:ln/>
        </p:spPr>
      </p:sp>
      <p:sp>
        <p:nvSpPr>
          <p:cNvPr id="10" name="Código"/>
          <p:cNvSpPr txBox="1"/>
          <p:nvPr/>
        </p:nvSpPr>
        <p:spPr>
          <a:xfrm>
            <a:off x="68580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precos.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=&gt; p &gt;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100" dirty="0"/>
          </a:p>
        </p:txBody>
      </p:sp>
      <p:sp>
        <p:nvSpPr>
          <p:cNvPr id="11" name="Método"/>
          <p:cNvSpPr/>
          <p:nvPr/>
        </p:nvSpPr>
        <p:spPr>
          <a:xfrm>
            <a:off x="3246120" y="173736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290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every()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Todos os itens passam no teste?</a:t>
            </a:r>
            <a:endParaRPr lang="en-US" sz="1500" dirty="0"/>
          </a:p>
        </p:txBody>
      </p:sp>
      <p:sp>
        <p:nvSpPr>
          <p:cNvPr id="14" name="Bloco de código"/>
          <p:cNvSpPr/>
          <p:nvPr/>
        </p:nvSpPr>
        <p:spPr>
          <a:xfrm>
            <a:off x="3337560" y="320040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141B34"/>
          </a:solidFill>
          <a:ln/>
        </p:spPr>
      </p:sp>
      <p:sp>
        <p:nvSpPr>
          <p:cNvPr id="15" name="Código"/>
          <p:cNvSpPr txBox="1"/>
          <p:nvPr/>
        </p:nvSpPr>
        <p:spPr>
          <a:xfrm>
            <a:off x="347472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precos.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=&gt; p &gt;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100" dirty="0"/>
          </a:p>
        </p:txBody>
      </p:sp>
      <p:sp>
        <p:nvSpPr>
          <p:cNvPr id="16" name="Método"/>
          <p:cNvSpPr/>
          <p:nvPr/>
        </p:nvSpPr>
        <p:spPr>
          <a:xfrm>
            <a:off x="6035040" y="1737360"/>
            <a:ext cx="26517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flat()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Desfaz um nível de aninhamento</a:t>
            </a:r>
            <a:endParaRPr lang="en-US" sz="1500" dirty="0"/>
          </a:p>
        </p:txBody>
      </p:sp>
      <p:sp>
        <p:nvSpPr>
          <p:cNvPr id="19" name="Bloco de código"/>
          <p:cNvSpPr/>
          <p:nvPr/>
        </p:nvSpPr>
        <p:spPr>
          <a:xfrm>
            <a:off x="6126480" y="320040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141B34"/>
          </a:solidFill>
          <a:ln/>
        </p:spPr>
      </p:sp>
      <p:sp>
        <p:nvSpPr>
          <p:cNvPr id="20" name="Código"/>
          <p:cNvSpPr txBox="1"/>
          <p:nvPr/>
        </p:nvSpPr>
        <p:spPr>
          <a:xfrm>
            <a:off x="626364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[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[</a:t>
            </a:r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2, 3, 4]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Objetos e encadeamento</a:t>
            </a:r>
            <a:endParaRPr lang="en-US" sz="3400" dirty="0"/>
          </a:p>
        </p:txBody>
      </p:sp>
      <p:sp>
        <p:nvSpPr>
          <p:cNvPr id="4" name="Bloco de código"/>
          <p:cNvSpPr/>
          <p:nvPr/>
        </p:nvSpPr>
        <p:spPr>
          <a:xfrm>
            <a:off x="457200" y="105156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141B34"/>
          </a:solidFill>
          <a:ln/>
        </p:spPr>
      </p:sp>
      <p:sp>
        <p:nvSpPr>
          <p:cNvPr id="5" name="Código"/>
          <p:cNvSpPr txBox="1"/>
          <p:nvPr/>
        </p:nvSpPr>
        <p:spPr>
          <a:xfrm>
            <a:off x="594360" y="10972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pedidos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sabor: </a:t>
            </a:r>
            <a:pPr indent="0" marL="0">
              <a:buNone/>
            </a:pPr>
            <a:r>
              <a:rPr lang="en-US" sz="12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"Calabresa"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preco: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qtd: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sabor: </a:t>
            </a:r>
            <a:pPr indent="0" marL="0">
              <a:buNone/>
            </a:pPr>
            <a:r>
              <a:rPr lang="en-US" sz="12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"Frango"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preco: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qtd: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sabor: </a:t>
            </a:r>
            <a:pPr indent="0" marL="0">
              <a:buNone/>
            </a:pPr>
            <a:r>
              <a:rPr lang="en-US" sz="1200" dirty="0">
                <a:solidFill>
                  <a:srgbClr val="9A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"Marguerita"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preco: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qtd: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</p:txBody>
      </p:sp>
      <p:sp>
        <p:nvSpPr>
          <p:cNvPr id="6" name="Bloco de código"/>
          <p:cNvSpPr/>
          <p:nvPr/>
        </p:nvSpPr>
        <p:spPr>
          <a:xfrm>
            <a:off x="457200" y="237744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141B34"/>
          </a:solidFill>
          <a:ln/>
        </p:spPr>
      </p:sp>
      <p:sp>
        <p:nvSpPr>
          <p:cNvPr id="7" name="Código"/>
          <p:cNvSpPr txBox="1"/>
          <p:nvPr/>
        </p:nvSpPr>
        <p:spPr>
          <a:xfrm>
            <a:off x="594360" y="242316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pedidos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=&gt; p.qtd &gt;=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=&gt; p.preco * p.qtd)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((acc, v) =&gt; acc + v, </a:t>
            </a:r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 → 204</a:t>
            </a:r>
            <a:endParaRPr lang="en-US" sz="1200" dirty="0"/>
          </a:p>
        </p:txBody>
      </p:sp>
      <p:sp>
        <p:nvSpPr>
          <p:cNvPr id="8" name="Etapa do encadeamento"/>
          <p:cNvSpPr/>
          <p:nvPr/>
        </p:nvSpPr>
        <p:spPr>
          <a:xfrm>
            <a:off x="5577840" y="2377440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F2A5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0" y="23774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3774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Calabresa e Marguerita</a:t>
            </a:r>
            <a:endParaRPr lang="en-US" sz="1400" dirty="0"/>
          </a:p>
        </p:txBody>
      </p:sp>
      <p:sp>
        <p:nvSpPr>
          <p:cNvPr id="11" name="Etapa do encadeamento"/>
          <p:cNvSpPr/>
          <p:nvPr/>
        </p:nvSpPr>
        <p:spPr>
          <a:xfrm>
            <a:off x="5577840" y="2862072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F2A54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77840" y="28620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2862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[84, 120]</a:t>
            </a:r>
            <a:endParaRPr lang="en-US" sz="1400" dirty="0"/>
          </a:p>
        </p:txBody>
      </p:sp>
      <p:sp>
        <p:nvSpPr>
          <p:cNvPr id="14" name="Etapa do encadeamento"/>
          <p:cNvSpPr/>
          <p:nvPr/>
        </p:nvSpPr>
        <p:spPr>
          <a:xfrm>
            <a:off x="5577840" y="3346704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F2A54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577840" y="334670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33467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204</a:t>
            </a:r>
            <a:endParaRPr lang="en-US" sz="1400" dirty="0"/>
          </a:p>
        </p:txBody>
      </p:sp>
      <p:sp>
        <p:nvSpPr>
          <p:cNvPr id="17" name="Dica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Leia o encadeamento de cima para baixo: cada linha é um passo do raciocínio.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Resumo: muta ou não muta?</a:t>
            </a:r>
            <a:endParaRPr lang="en-US" sz="3400" dirty="0"/>
          </a:p>
        </p:txBody>
      </p:sp>
      <p:sp>
        <p:nvSpPr>
          <p:cNvPr id="4" name="Etiqueta"/>
          <p:cNvSpPr/>
          <p:nvPr/>
        </p:nvSpPr>
        <p:spPr>
          <a:xfrm>
            <a:off x="457200" y="1097280"/>
            <a:ext cx="4023360" cy="365760"/>
          </a:xfrm>
          <a:prstGeom prst="roundRect">
            <a:avLst>
              <a:gd name="adj" fmla="val 42500"/>
            </a:avLst>
          </a:prstGeom>
          <a:solidFill>
            <a:schemeClr val="accent4"/>
          </a:solidFill>
          <a:ln/>
        </p:spPr>
      </p:sp>
      <p:sp>
        <p:nvSpPr>
          <p:cNvPr id="5" name="Texto da etiqueta"/>
          <p:cNvSpPr txBox="1"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MUTAM o array original</a:t>
            </a:r>
            <a:endParaRPr lang="en-US" sz="1500" dirty="0"/>
          </a:p>
        </p:txBody>
      </p:sp>
      <p:sp>
        <p:nvSpPr>
          <p:cNvPr id="6" name="Etiqueta"/>
          <p:cNvSpPr/>
          <p:nvPr/>
        </p:nvSpPr>
        <p:spPr>
          <a:xfrm>
            <a:off x="4663440" y="1097280"/>
            <a:ext cx="4023360" cy="365760"/>
          </a:xfrm>
          <a:prstGeom prst="roundRect">
            <a:avLst>
              <a:gd name="adj" fmla="val 42500"/>
            </a:avLst>
          </a:prstGeom>
          <a:solidFill>
            <a:schemeClr val="accent5"/>
          </a:solidFill>
          <a:ln/>
        </p:spPr>
      </p:sp>
      <p:sp>
        <p:nvSpPr>
          <p:cNvPr id="7" name="Texto da etiqueta"/>
          <p:cNvSpPr txBox="1"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NÃO MUTAM (devolvem algo novo)</a:t>
            </a:r>
            <a:endParaRPr lang="en-US" sz="1500" dirty="0"/>
          </a:p>
        </p:txBody>
      </p:sp>
      <p:sp>
        <p:nvSpPr>
          <p:cNvPr id="8" name="Linha"/>
          <p:cNvSpPr/>
          <p:nvPr/>
        </p:nvSpPr>
        <p:spPr>
          <a:xfrm>
            <a:off x="457200" y="1554480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1554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· pop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15544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adiciona / remove no fim</a:t>
            </a:r>
            <a:endParaRPr lang="en-US" sz="1300" dirty="0"/>
          </a:p>
        </p:txBody>
      </p:sp>
      <p:sp>
        <p:nvSpPr>
          <p:cNvPr id="11" name="Linha"/>
          <p:cNvSpPr/>
          <p:nvPr/>
        </p:nvSpPr>
        <p:spPr>
          <a:xfrm>
            <a:off x="457200" y="1984248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19842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· unshift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19842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remove / adiciona no início</a:t>
            </a:r>
            <a:endParaRPr lang="en-US" sz="1300" dirty="0"/>
          </a:p>
        </p:txBody>
      </p:sp>
      <p:sp>
        <p:nvSpPr>
          <p:cNvPr id="14" name="Linha"/>
          <p:cNvSpPr/>
          <p:nvPr/>
        </p:nvSpPr>
        <p:spPr>
          <a:xfrm>
            <a:off x="457200" y="2414016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24140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24140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remove ou insere no meio</a:t>
            </a:r>
            <a:endParaRPr lang="en-US" sz="1300" dirty="0"/>
          </a:p>
        </p:txBody>
      </p:sp>
      <p:sp>
        <p:nvSpPr>
          <p:cNvPr id="17" name="Linha"/>
          <p:cNvSpPr/>
          <p:nvPr/>
        </p:nvSpPr>
        <p:spPr>
          <a:xfrm>
            <a:off x="457200" y="2843784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28437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286000" y="28437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ordena os itens</a:t>
            </a:r>
            <a:endParaRPr lang="en-US" sz="1300" dirty="0"/>
          </a:p>
        </p:txBody>
      </p:sp>
      <p:sp>
        <p:nvSpPr>
          <p:cNvPr id="20" name="Linha"/>
          <p:cNvSpPr/>
          <p:nvPr/>
        </p:nvSpPr>
        <p:spPr>
          <a:xfrm>
            <a:off x="457200" y="3273552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4360" y="32735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286000" y="32735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inverte a ordem</a:t>
            </a:r>
            <a:endParaRPr lang="en-US" sz="1300" dirty="0"/>
          </a:p>
        </p:txBody>
      </p:sp>
      <p:sp>
        <p:nvSpPr>
          <p:cNvPr id="23" name="Linha"/>
          <p:cNvSpPr/>
          <p:nvPr/>
        </p:nvSpPr>
        <p:spPr>
          <a:xfrm>
            <a:off x="4663440" y="1554480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00600" y="1554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5544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copia um trecho</a:t>
            </a:r>
            <a:endParaRPr lang="en-US" sz="1300" dirty="0"/>
          </a:p>
        </p:txBody>
      </p:sp>
      <p:sp>
        <p:nvSpPr>
          <p:cNvPr id="26" name="Linha"/>
          <p:cNvSpPr/>
          <p:nvPr/>
        </p:nvSpPr>
        <p:spPr>
          <a:xfrm>
            <a:off x="4663440" y="1984248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800600" y="19842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92240" y="19842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transforma cada item</a:t>
            </a:r>
            <a:endParaRPr lang="en-US" sz="1300" dirty="0"/>
          </a:p>
        </p:txBody>
      </p:sp>
      <p:sp>
        <p:nvSpPr>
          <p:cNvPr id="29" name="Linha"/>
          <p:cNvSpPr/>
          <p:nvPr/>
        </p:nvSpPr>
        <p:spPr>
          <a:xfrm>
            <a:off x="4663440" y="2414016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800600" y="24140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24140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mantém só alguns itens</a:t>
            </a:r>
            <a:endParaRPr lang="en-US" sz="1300" dirty="0"/>
          </a:p>
        </p:txBody>
      </p:sp>
      <p:sp>
        <p:nvSpPr>
          <p:cNvPr id="32" name="Linha"/>
          <p:cNvSpPr/>
          <p:nvPr/>
        </p:nvSpPr>
        <p:spPr>
          <a:xfrm>
            <a:off x="4663440" y="2843784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800600" y="28437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492240" y="28437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resume em um valor</a:t>
            </a:r>
            <a:endParaRPr lang="en-US" sz="1300" dirty="0"/>
          </a:p>
        </p:txBody>
      </p:sp>
      <p:sp>
        <p:nvSpPr>
          <p:cNvPr id="35" name="Linha"/>
          <p:cNvSpPr/>
          <p:nvPr/>
        </p:nvSpPr>
        <p:spPr>
          <a:xfrm>
            <a:off x="4663440" y="3273552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800600" y="32735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 · spread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492240" y="32735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junta arrays</a:t>
            </a:r>
            <a:endParaRPr lang="en-US" sz="1300" dirty="0"/>
          </a:p>
        </p:txBody>
      </p:sp>
      <p:sp>
        <p:nvSpPr>
          <p:cNvPr id="38" name="Linha"/>
          <p:cNvSpPr/>
          <p:nvPr/>
        </p:nvSpPr>
        <p:spPr>
          <a:xfrm>
            <a:off x="4663440" y="3703320"/>
            <a:ext cx="40233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800600" y="3703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· includes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92240" y="3703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busca um item</a:t>
            </a:r>
            <a:endParaRPr lang="en-US" sz="1300" dirty="0"/>
          </a:p>
        </p:txBody>
      </p:sp>
      <p:sp>
        <p:nvSpPr>
          <p:cNvPr id="41" name="Dica"/>
          <p:cNvSpPr/>
          <p:nvPr/>
        </p:nvSpPr>
        <p:spPr>
          <a:xfrm>
            <a:off x="457200" y="4279392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40080" y="42793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Dica: toSorted, toReversed e toSpliced (ES2023) fazem o mesmo sem alterar o original.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Boas práticas e erros comuns</a:t>
            </a:r>
            <a:endParaRPr lang="en-US" sz="3400" dirty="0"/>
          </a:p>
        </p:txBody>
      </p:sp>
      <p:sp>
        <p:nvSpPr>
          <p:cNvPr id="4" name="Boas práticas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5" name="Erros comuns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2000" dirty="0"/>
          </a:p>
        </p:txBody>
      </p:sp>
      <p:pic>
        <p:nvPicPr>
          <p:cNvPr id="8" name="Ícone de chec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Declare com const: o array não será reatribuído</a:t>
            </a:r>
            <a:endParaRPr lang="en-US" sz="1400" dirty="0"/>
          </a:p>
        </p:txBody>
      </p:sp>
      <p:pic>
        <p:nvPicPr>
          <p:cNvPr id="10" name="Ícone de 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5000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2585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nomes no plural: sabores, pedidos, precos</a:t>
            </a:r>
            <a:endParaRPr lang="en-US" sz="1400" dirty="0"/>
          </a:p>
        </p:txBody>
      </p:sp>
      <p:pic>
        <p:nvPicPr>
          <p:cNvPr id="12" name="Ícone de 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693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51560" y="28254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Prefira map, filter e reduce para transformar dados</a:t>
            </a:r>
            <a:endParaRPr lang="en-US" sz="1400" dirty="0"/>
          </a:p>
        </p:txBody>
      </p:sp>
      <p:pic>
        <p:nvPicPr>
          <p:cNvPr id="14" name="Ícone de 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83864"/>
            <a:ext cx="292608" cy="29260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51560" y="33924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Copie antes de mutar: [...original]</a:t>
            </a:r>
            <a:endParaRPr lang="en-US" sz="1400" dirty="0"/>
          </a:p>
        </p:txBody>
      </p:sp>
      <p:pic>
        <p:nvPicPr>
          <p:cNvPr id="16" name="Ícone de check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50792"/>
            <a:ext cx="292608" cy="29260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051560" y="39593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Cheque o tipo com Array.isArray(valor)</a:t>
            </a:r>
            <a:endParaRPr lang="en-US" sz="1400" dirty="0"/>
          </a:p>
        </p:txBody>
      </p:sp>
      <p:pic>
        <p:nvPicPr>
          <p:cNvPr id="18" name="Ícone de erro" descr="Err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783080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25780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Achar que o primeiro índice é 1 (ele é 0)</a:t>
            </a:r>
            <a:endParaRPr lang="en-US" sz="1400" dirty="0"/>
          </a:p>
        </p:txBody>
      </p:sp>
      <p:pic>
        <p:nvPicPr>
          <p:cNvPr id="20" name="Ícone de erro" descr="Err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350008"/>
            <a:ext cx="292608" cy="292608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5257800" y="22585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sort() em números sem comparador</a:t>
            </a:r>
            <a:endParaRPr lang="en-US" sz="1400" dirty="0"/>
          </a:p>
        </p:txBody>
      </p:sp>
      <p:pic>
        <p:nvPicPr>
          <p:cNvPr id="22" name="Ícone de erro" descr="Err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916936"/>
            <a:ext cx="292608" cy="292608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5257800" y="28254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map só para percorrer (use forEach)</a:t>
            </a:r>
            <a:endParaRPr lang="en-US" sz="1400" dirty="0"/>
          </a:p>
        </p:txBody>
      </p:sp>
      <p:pic>
        <p:nvPicPr>
          <p:cNvPr id="24" name="Ícone de erro" descr="Err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483864"/>
            <a:ext cx="292608" cy="292608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5257800" y="33924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Esquecer o return numa arrow com { }</a:t>
            </a:r>
            <a:endParaRPr lang="en-US" sz="1400" dirty="0"/>
          </a:p>
        </p:txBody>
      </p:sp>
      <p:pic>
        <p:nvPicPr>
          <p:cNvPr id="26" name="Ícone de erro" descr="Err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050792"/>
            <a:ext cx="292608" cy="292608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5257800" y="39593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Comparar arrays com === (compara referência)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Atividades: aquecimento</a:t>
            </a:r>
            <a:endParaRPr lang="en-US" sz="3400" dirty="0"/>
          </a:p>
        </p:txBody>
      </p:sp>
      <p:sp>
        <p:nvSpPr>
          <p:cNvPr id="4" name="Atividade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5" name="Número da atividade"/>
          <p:cNvSpPr/>
          <p:nvPr/>
        </p:nvSpPr>
        <p:spPr>
          <a:xfrm>
            <a:off x="594360" y="120700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207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Cardápio</a:t>
            </a:r>
            <a:endParaRPr lang="en-US" sz="1600" dirty="0"/>
          </a:p>
        </p:txBody>
      </p:sp>
      <p:sp>
        <p:nvSpPr>
          <p:cNvPr id="8" name="Etiqueta"/>
          <p:cNvSpPr/>
          <p:nvPr/>
        </p:nvSpPr>
        <p:spPr>
          <a:xfrm>
            <a:off x="2971800" y="1252728"/>
            <a:ext cx="1325880" cy="292608"/>
          </a:xfrm>
          <a:prstGeom prst="roundRect">
            <a:avLst>
              <a:gd name="adj" fmla="val 53125"/>
            </a:avLst>
          </a:prstGeom>
          <a:solidFill>
            <a:srgbClr val="2A8C7E"/>
          </a:solidFill>
          <a:ln/>
        </p:spPr>
      </p:sp>
      <p:sp>
        <p:nvSpPr>
          <p:cNvPr id="9" name="Texto da etiqueta"/>
          <p:cNvSpPr txBox="1"/>
          <p:nvPr/>
        </p:nvSpPr>
        <p:spPr>
          <a:xfrm>
            <a:off x="2971800" y="12527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Iniciante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Crie o array sabores com 5 sabores. Mostre o primeiro, o último (use at(-1)) e quantos sabores existem.</a:t>
            </a:r>
            <a:endParaRPr lang="en-US" sz="1400" dirty="0"/>
          </a:p>
        </p:txBody>
      </p:sp>
      <p:sp>
        <p:nvSpPr>
          <p:cNvPr id="11" name="Atividade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Número da atividade"/>
          <p:cNvSpPr/>
          <p:nvPr/>
        </p:nvSpPr>
        <p:spPr>
          <a:xfrm>
            <a:off x="4800600" y="120700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1207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Fila de pedidos</a:t>
            </a:r>
            <a:endParaRPr lang="en-US" sz="1600" dirty="0"/>
          </a:p>
        </p:txBody>
      </p:sp>
      <p:sp>
        <p:nvSpPr>
          <p:cNvPr id="15" name="Etiqueta"/>
          <p:cNvSpPr/>
          <p:nvPr/>
        </p:nvSpPr>
        <p:spPr>
          <a:xfrm>
            <a:off x="7178040" y="1252728"/>
            <a:ext cx="1325880" cy="292608"/>
          </a:xfrm>
          <a:prstGeom prst="roundRect">
            <a:avLst>
              <a:gd name="adj" fmla="val 53125"/>
            </a:avLst>
          </a:prstGeom>
          <a:solidFill>
            <a:srgbClr val="2A8C7E"/>
          </a:solidFill>
          <a:ln/>
        </p:spPr>
      </p:sp>
      <p:sp>
        <p:nvSpPr>
          <p:cNvPr id="16" name="Texto da etiqueta"/>
          <p:cNvSpPr txBox="1"/>
          <p:nvPr/>
        </p:nvSpPr>
        <p:spPr>
          <a:xfrm>
            <a:off x="7178040" y="12527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Iniciante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Comece com fila = []. Use push para chegar pedidos, shift para atender o primeiro e unshift para um pedido urgente. Mostre a fila a cada passo.</a:t>
            </a:r>
            <a:endParaRPr lang="en-US" sz="1400" dirty="0"/>
          </a:p>
        </p:txBody>
      </p:sp>
      <p:sp>
        <p:nvSpPr>
          <p:cNvPr id="18" name="Atividade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9" name="Número da atividade"/>
          <p:cNvSpPr/>
          <p:nvPr/>
        </p:nvSpPr>
        <p:spPr>
          <a:xfrm>
            <a:off x="594360" y="299008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2990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Reajuste</a:t>
            </a:r>
            <a:endParaRPr lang="en-US" sz="1600" dirty="0"/>
          </a:p>
        </p:txBody>
      </p:sp>
      <p:sp>
        <p:nvSpPr>
          <p:cNvPr id="22" name="Etiqueta"/>
          <p:cNvSpPr/>
          <p:nvPr/>
        </p:nvSpPr>
        <p:spPr>
          <a:xfrm>
            <a:off x="2971800" y="3035808"/>
            <a:ext cx="1325880" cy="292608"/>
          </a:xfrm>
          <a:prstGeom prst="roundRect">
            <a:avLst>
              <a:gd name="adj" fmla="val 53125"/>
            </a:avLst>
          </a:prstGeom>
          <a:solidFill>
            <a:srgbClr val="F2A541"/>
          </a:solidFill>
          <a:ln/>
        </p:spPr>
      </p:sp>
      <p:sp>
        <p:nvSpPr>
          <p:cNvPr id="23" name="Texto da etiqueta"/>
          <p:cNvSpPr txBox="1"/>
          <p:nvPr/>
        </p:nvSpPr>
        <p:spPr>
          <a:xfrm>
            <a:off x="2971800" y="30358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6"/>
                </a:solidFill>
              </a:rPr>
              <a:t>Intermediário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 precos = [30, 35, 45, 50]: use map para somar R$ 5 em cada preço e, depois do reajuste, filter para listar só os acima de R$ 40.</a:t>
            </a:r>
            <a:endParaRPr lang="en-US" sz="1400" dirty="0"/>
          </a:p>
        </p:txBody>
      </p:sp>
      <p:sp>
        <p:nvSpPr>
          <p:cNvPr id="25" name="Atividade"/>
          <p:cNvSpPr/>
          <p:nvPr/>
        </p:nvSpPr>
        <p:spPr>
          <a:xfrm>
            <a:off x="4663440" y="288036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6" name="Número da atividade"/>
          <p:cNvSpPr/>
          <p:nvPr/>
        </p:nvSpPr>
        <p:spPr>
          <a:xfrm>
            <a:off x="4800600" y="299008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80060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303520" y="2990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Total do carrinho</a:t>
            </a:r>
            <a:endParaRPr lang="en-US" sz="1600" dirty="0"/>
          </a:p>
        </p:txBody>
      </p:sp>
      <p:sp>
        <p:nvSpPr>
          <p:cNvPr id="29" name="Etiqueta"/>
          <p:cNvSpPr/>
          <p:nvPr/>
        </p:nvSpPr>
        <p:spPr>
          <a:xfrm>
            <a:off x="7178040" y="3035808"/>
            <a:ext cx="1325880" cy="292608"/>
          </a:xfrm>
          <a:prstGeom prst="roundRect">
            <a:avLst>
              <a:gd name="adj" fmla="val 53125"/>
            </a:avLst>
          </a:prstGeom>
          <a:solidFill>
            <a:srgbClr val="F2A541"/>
          </a:solidFill>
          <a:ln/>
        </p:spPr>
      </p:sp>
      <p:sp>
        <p:nvSpPr>
          <p:cNvPr id="30" name="Texto da etiqueta"/>
          <p:cNvSpPr txBox="1"/>
          <p:nvPr/>
        </p:nvSpPr>
        <p:spPr>
          <a:xfrm>
            <a:off x="7178040" y="30358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6"/>
                </a:solidFill>
              </a:rPr>
              <a:t>Intermediário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80060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Dado o carrinho de objetos {item, valor}, use reduce para calcular o total e map para listar só os nomes dos itens.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Atividades: desafio final</a:t>
            </a:r>
            <a:endParaRPr lang="en-US" sz="3400" dirty="0"/>
          </a:p>
        </p:txBody>
      </p:sp>
      <p:sp>
        <p:nvSpPr>
          <p:cNvPr id="4" name="Atividade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Número da atividade"/>
          <p:cNvSpPr/>
          <p:nvPr/>
        </p:nvSpPr>
        <p:spPr>
          <a:xfrm>
            <a:off x="594360" y="120700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207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Busca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37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includes para verificar se "Portuguesa" está em sabores. Se não estiver, adicione com push e mostre a lista final.</a:t>
            </a:r>
            <a:endParaRPr lang="en-US" sz="1400" dirty="0"/>
          </a:p>
        </p:txBody>
      </p:sp>
      <p:sp>
        <p:nvSpPr>
          <p:cNvPr id="9" name="Atividade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úmero da atividade"/>
          <p:cNvSpPr/>
          <p:nvPr/>
        </p:nvSpPr>
        <p:spPr>
          <a:xfrm>
            <a:off x="4800600" y="120700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0060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1207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Ranking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737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 pedidos = [{sabor, valor}, ...], ordene por valor (maior primeiro) com sort e mostre os 3 primeiros com slice.</a:t>
            </a:r>
            <a:endParaRPr lang="en-US" sz="1400" dirty="0"/>
          </a:p>
        </p:txBody>
      </p:sp>
      <p:sp>
        <p:nvSpPr>
          <p:cNvPr id="14" name="Desafio"/>
          <p:cNvSpPr/>
          <p:nvPr/>
        </p:nvSpPr>
        <p:spPr>
          <a:xfrm>
            <a:off x="457200" y="2788920"/>
            <a:ext cx="8229600" cy="1783080"/>
          </a:xfrm>
          <a:prstGeom prst="roundRect">
            <a:avLst>
              <a:gd name="adj" fmla="val 4103"/>
            </a:avLst>
          </a:prstGeom>
          <a:solidFill>
            <a:schemeClr val="tx2"/>
          </a:solidFill>
          <a:ln/>
        </p:spPr>
      </p:sp>
      <p:sp>
        <p:nvSpPr>
          <p:cNvPr id="15" name="Número da atividade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236"/>
                </a:solidFill>
              </a:rPr>
              <a:t>7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926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Desafio: mini sistema da pizzaria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 um array pedidos de objetos {sabor, preco, qtd}, calcule: (a) o total geral com reduce; (b) o pedido mais caro; (c) a lista de sabores em ordem alfabética; (d) os pedidos com 2 ou mais unidades, só os nomes em maiúsculas.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</a:rPr>
              <a:t>Entrega: arquivo atividades.js e print do console.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 Gradient Aula">
  <a:themeElements>
    <a:clrScheme name="Ocean Gradient Aula">
      <a:dk1>
        <a:srgbClr val="1B2236"/>
      </a:dk1>
      <a:lt1>
        <a:srgbClr val="FFFFFF"/>
      </a:lt1>
      <a:dk2>
        <a:srgbClr val="21295C"/>
      </a:dk2>
      <a:lt2>
        <a:srgbClr val="EAF3F7"/>
      </a:lt2>
      <a:accent1>
        <a:srgbClr val="065A82"/>
      </a:accent1>
      <a:accent2>
        <a:srgbClr val="1C7293"/>
      </a:accent2>
      <a:accent3>
        <a:srgbClr val="F2A541"/>
      </a:accent3>
      <a:accent4>
        <a:srgbClr val="C8432A"/>
      </a:accent4>
      <a:accent5>
        <a:srgbClr val="2A8C7E"/>
      </a:accent5>
      <a:accent6>
        <a:srgbClr val="7A5C99"/>
      </a:accent6>
      <a:hlink>
        <a:srgbClr val="1C7293"/>
      </a:hlink>
      <a:folHlink>
        <a:srgbClr val="7A5C99"/>
      </a:folHlink>
    </a:clrScheme>
    <a:fontScheme name="Ocean Gradient Aul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em JavaScript</dc:title>
  <dc:subject>PptxGenJS Presentation</dc:subject>
  <dc:creator>Elaborar Projetos de Aplicações para Web</dc:creator>
  <cp:lastModifiedBy>Elaborar Projetos de Aplicações para Web</cp:lastModifiedBy>
  <cp:revision>1</cp:revision>
  <dcterms:created xsi:type="dcterms:W3CDTF">2026-10-06T11:15:56Z</dcterms:created>
  <dcterms:modified xsi:type="dcterms:W3CDTF">2026-10-06T11:15:56Z</dcterms:modified>
</cp:coreProperties>
</file>