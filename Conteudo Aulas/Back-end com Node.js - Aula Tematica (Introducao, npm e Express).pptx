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3C873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TEMÁTICA · BACK-END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Back-end com Node.js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Tirando o JavaScript do navegador e colocando ele no servidor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74904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3C873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490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ao Node.js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Relembrando e avançando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vimos: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645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e JavaScript (front-end)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402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94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Cliente-servidor (Aula 2)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889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743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manipulando o DOM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291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e hospedagem (Aula 6)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18872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3716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vamos ver: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37960" y="187452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x Back-end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235915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3134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Node.js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2843784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79806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Instalando e rodando JavaScript no servidor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3328416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328269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e package.json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3813048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37673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(require/module.exports)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37960" y="429768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4251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Criando um servidor com Express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37960" y="478231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47365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e respostas em JSON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37960" y="5266944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52212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práticas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x Back-end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Lembrando o modelo cliente-servidor da Aula 2.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2578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(cliente)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no navegador do usuário.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 — estrutura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CSS — aparência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1605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JavaScript — comportamento visual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6177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Tudo que o usuário vê e clica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737360"/>
            <a:ext cx="5257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737360"/>
            <a:ext cx="5257800" cy="777240"/>
          </a:xfrm>
          <a:prstGeom prst="rect">
            <a:avLst/>
          </a:prstGeom>
          <a:solidFill>
            <a:srgbClr val="3C873A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737360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Back-end (servidor)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26974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no servidor, fora do alcance do usuário.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32461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Processa dados e regras de negócio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37033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Acessa banco de dados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41605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Autentica usuários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46177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Devolve respostas para o front-end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94360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vamos construir o lado do servidor pela primeira vez.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precisamos de back-end?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28016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 usuário deverá conseguir agendar um horário e essa informação deve continuar salva amanhã."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front-end sozinho não consegue: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2E3A6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2608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Guardar dados de forma permanente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92608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2E3A6E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292608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Validar informações com segurança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2E3A6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61188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Verificar login e senha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361188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2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361188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Enviar e-mails automáticos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2E3A6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29768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Processar pagamentos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429768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2E3A6E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429768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Compartilhar dados entre usuários diferentes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3492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isso precisa de um servidor rodando código — é aí que entra o back-end.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Node.js?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28016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ambiente que permite executar JavaScript fora do navegador — em um servidor, por exemplo.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27432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7432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linguagem)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46120" y="2743200"/>
            <a:ext cx="256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02152" y="27432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593592" y="27432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V8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 Chrome)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71032" y="2743200"/>
            <a:ext cx="256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27064" y="27432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3C873A"/>
          </a:solidFill>
          <a:ln/>
        </p:spPr>
      </p:sp>
      <p:sp>
        <p:nvSpPr>
          <p:cNvPr id="12" name="Text 10"/>
          <p:cNvSpPr/>
          <p:nvPr/>
        </p:nvSpPr>
        <p:spPr>
          <a:xfrm>
            <a:off x="6318504" y="27432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(ambiente)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95944" y="2743200"/>
            <a:ext cx="256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951976" y="27432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043416" y="27432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servidor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9377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outras palavras: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53492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JavaScript que você já sabe escrever para o navegador agora roda também no servidor.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JavaScript no back-end?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109728" cy="1417320"/>
          </a:xfrm>
          <a:prstGeom prst="rect">
            <a:avLst/>
          </a:prstGeom>
          <a:solidFill>
            <a:srgbClr val="3C873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087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linguagem só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e back-end no mesmo código, sem trocar de linguagem.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1371600"/>
            <a:ext cx="109728" cy="1417320"/>
          </a:xfrm>
          <a:prstGeom prst="rect">
            <a:avLst/>
          </a:prstGeom>
          <a:solidFill>
            <a:srgbClr val="3C873A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5087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enorme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37960" y="19659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Milhares de pacotes prontos disponíveis no npm.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971800"/>
            <a:ext cx="109728" cy="1417320"/>
          </a:xfrm>
          <a:prstGeom prst="rect">
            <a:avLst/>
          </a:prstGeom>
          <a:solidFill>
            <a:srgbClr val="3C873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1089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para dados em tempo real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60120" y="35661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chats, notificações, APIs.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29718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971800"/>
            <a:ext cx="109728" cy="1417320"/>
          </a:xfrm>
          <a:prstGeom prst="rect">
            <a:avLst/>
          </a:prstGeom>
          <a:solidFill>
            <a:srgbClr val="3C873A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1089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aprendizado menor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37960" y="35661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já sabe JS do front-end aproveita o conhecimento.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074920"/>
            <a:ext cx="10241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é usado por Netflix, Uber, PayPal e muitas outras empresas em produção.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Instalando e rodando o primeiro script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2E3A6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554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nodejs.org — versão LTS (recomendada)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2E3A6E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0" y="1600200"/>
            <a:ext cx="502920" cy="502920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1554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19659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o instalador do sistema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13716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2E3A6E"/>
          </a:solidFill>
          <a:ln/>
        </p:spPr>
      </p:sp>
      <p:sp>
        <p:nvSpPr>
          <p:cNvPr id="14" name="Shape 12"/>
          <p:cNvSpPr/>
          <p:nvPr/>
        </p:nvSpPr>
        <p:spPr>
          <a:xfrm>
            <a:off x="8138160" y="1600200"/>
            <a:ext cx="502920" cy="502920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778240" y="1554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78240" y="19659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--version no terminal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arquivo hello.js: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42900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12172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5935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4128" y="35935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2" name="Shape 20"/>
          <p:cNvSpPr/>
          <p:nvPr/>
        </p:nvSpPr>
        <p:spPr>
          <a:xfrm>
            <a:off x="1225296" y="35935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886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"Olá do Node.js!"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36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no terminal: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63640" y="342900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D0D0D"/>
          </a:solidFill>
          <a:ln/>
        </p:spPr>
      </p:sp>
      <p:sp>
        <p:nvSpPr>
          <p:cNvPr id="26" name="Shape 24"/>
          <p:cNvSpPr/>
          <p:nvPr/>
        </p:nvSpPr>
        <p:spPr>
          <a:xfrm>
            <a:off x="6446520" y="35935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7" name="Shape 25"/>
          <p:cNvSpPr/>
          <p:nvPr/>
        </p:nvSpPr>
        <p:spPr>
          <a:xfrm>
            <a:off x="6647688" y="35935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8" name="Shape 26"/>
          <p:cNvSpPr/>
          <p:nvPr/>
        </p:nvSpPr>
        <p:spPr>
          <a:xfrm>
            <a:off x="6848856" y="35935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3886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hello.js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Olá do Node.js!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50292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50292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navegador, sem HTML — só o terminal executando JavaScript puro.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 no navegador x JS no Node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linguagem é a mesma, mas o ambiente muda o que está disponível.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navegador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73736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3C873A"/>
          </a:solidFill>
          <a:ln/>
        </p:spPr>
      </p:sp>
      <p:sp>
        <p:nvSpPr>
          <p:cNvPr id="7" name="Text 5"/>
          <p:cNvSpPr/>
          <p:nvPr/>
        </p:nvSpPr>
        <p:spPr>
          <a:xfrm>
            <a:off x="6263640" y="173736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Node.js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5257800" cy="731520"/>
          </a:xfrm>
          <a:prstGeom prst="roundRect">
            <a:avLst>
              <a:gd name="adj" fmla="val 75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4231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document, window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423160"/>
            <a:ext cx="5257800" cy="731520"/>
          </a:xfrm>
          <a:prstGeom prst="roundRect">
            <a:avLst>
              <a:gd name="adj" fmla="val 75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4231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8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existem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257800" cy="731520"/>
          </a:xfrm>
          <a:prstGeom prst="roundRect">
            <a:avLst>
              <a:gd name="adj" fmla="val 75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9184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alert(), addEventListener()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3291840"/>
            <a:ext cx="5257800" cy="731520"/>
          </a:xfrm>
          <a:prstGeom prst="roundRect">
            <a:avLst>
              <a:gd name="adj" fmla="val 75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29184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8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existem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5257800" cy="731520"/>
          </a:xfrm>
          <a:prstGeom prst="roundRect">
            <a:avLst>
              <a:gd name="adj" fmla="val 75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6052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acessa arquivos do computador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160520"/>
            <a:ext cx="5257800" cy="731520"/>
          </a:xfrm>
          <a:prstGeom prst="roundRect">
            <a:avLst>
              <a:gd name="adj" fmla="val 75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16052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8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 (sistema de arquivos)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029200"/>
            <a:ext cx="5257800" cy="731520"/>
          </a:xfrm>
          <a:prstGeom prst="roundRect">
            <a:avLst>
              <a:gd name="adj" fmla="val 75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02920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 dentro do navegador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5029200"/>
            <a:ext cx="5257800" cy="731520"/>
          </a:xfrm>
          <a:prstGeom prst="roundRect">
            <a:avLst>
              <a:gd name="adj" fmla="val 75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502920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8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 direto no sistema operacional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98932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Console.log, variáveis, funções, condicionais e loops funcionam igual nos dois ambientes.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npm — gerenciador de pacotes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28016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(Node Package Manager) é uma ferramenta que instala bibliotecas prontas — código que outras pessoas já escreveram e você pode reutilizar.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 instalado junto com o Node.js. Comandos principais: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881360" cy="2377440"/>
          </a:xfrm>
          <a:prstGeom prst="roundRect">
            <a:avLst>
              <a:gd name="adj" fmla="val 3077"/>
            </a:avLst>
          </a:prstGeom>
          <a:solidFill>
            <a:srgbClr val="0D0D0D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33649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33649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33649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57600"/>
            <a:ext cx="10332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init -y            # cria o package.json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 express    # instala um pacote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            # instala tudo que já está no projeto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57607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576072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como usamos CDN para bibliotecas no HTML, usamos npm para instalar bibliotecas no back-end.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package.json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"documento de identidade" do projeto Node.js.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852160" cy="3931920"/>
          </a:xfrm>
          <a:prstGeom prst="roundRect">
            <a:avLst>
              <a:gd name="adj" fmla="val 1860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562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8562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8562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48840"/>
            <a:ext cx="53035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"meu-projeto"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"version"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"1.0.0"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"main"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"index.js"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"scripts"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"start"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"node index.js"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"dependencies"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"express"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"^4.18.0"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66560" y="1691640"/>
            <a:ext cx="4800600" cy="1188720"/>
          </a:xfrm>
          <a:prstGeom prst="roundRect">
            <a:avLst>
              <a:gd name="adj" fmla="val 6154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18288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/ version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95160" y="224028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Identificam o projeto.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66560" y="3063240"/>
            <a:ext cx="4800600" cy="1188720"/>
          </a:xfrm>
          <a:prstGeom prst="roundRect">
            <a:avLst>
              <a:gd name="adj" fmla="val 6154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32004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95160" y="361188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Atalhos de comando (ex: npm start).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66560" y="4434840"/>
            <a:ext cx="4800600" cy="1188720"/>
          </a:xfrm>
          <a:prstGeom prst="roundRect">
            <a:avLst>
              <a:gd name="adj" fmla="val 6154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45720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95160" y="498348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pacotes que o projeto usa.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Módulos: require e module.exports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Permitem organizar o código em arquivos separados e reutilizá-los.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saudacao.js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12172E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134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23134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25296" y="23134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06040"/>
            <a:ext cx="47091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saudar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(nome)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`Olá, ${nome}!`;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saudar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173736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8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1217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446520" y="23134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647688" y="23134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848856" y="23134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606040"/>
            <a:ext cx="47091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saudar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require(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"./saudacao"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console.log(saudar(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"Everton"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526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45262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que o arquivo disponibiliza para outros arquivos usarem.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0120" y="5257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require()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97680" y="52578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o que outro arquivo exportou.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Exemplo: módulo de utilidades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módulo pode exportar várias funções ao mesmo tempo.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4114800"/>
          </a:xfrm>
          <a:prstGeom prst="roundRect">
            <a:avLst>
              <a:gd name="adj" fmla="val 1778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03327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utils.js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dobrar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* 2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formatarPreco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(valor)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`R$ ${valor.toFixed(2)}`;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{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dobrar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formatarPreco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index.js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dobrar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formatarPreco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= require(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"./utils"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console.log(formatarPreco(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R$ 45.00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 ao Express.js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28016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é o framework mais usado para criar servidores com Node.js — facilita criar rotas, receber requisições e enviar respostas.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D0D0D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32735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32735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32735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56616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 express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10881360" cy="2148840"/>
          </a:xfrm>
          <a:prstGeom prst="roundRect">
            <a:avLst>
              <a:gd name="adj" fmla="val 4255"/>
            </a:avLst>
          </a:prstGeom>
          <a:solidFill>
            <a:srgbClr val="2E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57200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Express, você precisaria escrever muito código só para: ler a URL, identificar o método (GET/POST), formatar a resposta...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53492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Express, tudo isso fica simples e organizado — como veremos a seguir.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Criando um servidor básico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3840480"/>
          </a:xfrm>
          <a:prstGeom prst="roundRect">
            <a:avLst>
              <a:gd name="adj" fmla="val 1905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361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5361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5361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103327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index.js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require(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"express"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express();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"Olá, meu primeiro servidor!"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"Servidor rodando em http://localhost:3000"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539496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3C873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539496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Rode com: node index.js — e abra http://localhost:3000 no navegador.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rota é um caminho (URL) que o servidor sabe responder.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2651760"/>
          </a:xfrm>
          <a:prstGeom prst="roundRect">
            <a:avLst>
              <a:gd name="adj" fmla="val 2759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03327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"Página inicial"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"/sobre"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"Sobre a academia"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754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16636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 requisições do tipo GET.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45720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4754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"/" e "/sobre"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516636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os caminhos (rotas) da URL.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45720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4754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(req, res)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516636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= requisição recebida. res = resposta enviada.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Retornando JSON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back-ends modernos devolve dados em JSON, não HTML pronto.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2743200"/>
          </a:xfrm>
          <a:prstGeom prst="roundRect">
            <a:avLst>
              <a:gd name="adj" fmla="val 2667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03327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"/horarios"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res.json([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dia: "Segunda", horario: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"18h"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dia: "Quarta",  horario: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"19h"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70916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8920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(JavaScript Object Notation)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530352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formato padrão para troca de dados entre front-end e back-end — muito parecido com objetos JavaScript.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 com parâmetros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podem receber partes variáveis da URL.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2377440"/>
          </a:xfrm>
          <a:prstGeom prst="roundRect">
            <a:avLst>
              <a:gd name="adj" fmla="val 3077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0332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"/aluno/:id"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req.params.id;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res.send(`Detalhes do aluno ${id}`);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80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usuário acessar: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4800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8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/aluno/42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44805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0" y="4663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req.params.id será "42"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5321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5321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: antes do nome (:id) indica que aquele trecho da URL é variável.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front-end para o back-end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navegador conversa com o servidor Node.js usando fetch().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2377440"/>
          </a:xfrm>
          <a:prstGeom prst="roundRect">
            <a:avLst>
              <a:gd name="adj" fmla="val 3077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0332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script.js do front-end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"http://localhost:3000/horarios"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.then(res =&gt; res.json())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.then(dados =&gt; console.log(dados));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480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4846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chama fetch()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0" y="434340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3C873A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4480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4846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 chega ao servidor Node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434340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4480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4846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processa e responde JSON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69680" y="434340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3C873A"/>
          </a:solidFill>
          <a:ln/>
        </p:spPr>
      </p:sp>
      <p:sp>
        <p:nvSpPr>
          <p:cNvPr id="19" name="Text 17"/>
          <p:cNvSpPr/>
          <p:nvPr/>
        </p:nvSpPr>
        <p:spPr>
          <a:xfrm>
            <a:off x="9006840" y="4480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06840" y="4846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recebe e exibe os dados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585216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é o ciclo completo de uma aplicação Web full stack.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prático: horários da academia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6400800" cy="4663440"/>
          </a:xfrm>
          <a:prstGeom prst="roundRect">
            <a:avLst>
              <a:gd name="adj" fmla="val 1569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447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4447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4447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58521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server.js (back-end)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require(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"express"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express();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"/horarios"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res.json([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dia: "Seg", horario: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"18h"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69480" y="1280160"/>
            <a:ext cx="4251960" cy="4663440"/>
          </a:xfrm>
          <a:prstGeom prst="roundRect">
            <a:avLst>
              <a:gd name="adj" fmla="val 215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4630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no navegador: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0" y="1920240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21031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Horários da academia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0" y="26060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— 18h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80960" y="30175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Carregado via fetch()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0" y="3566160"/>
            <a:ext cx="3794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é um exemplo real de como o requisito "consultar horários" (Aula 4) vira dado de verdade, vindo de um servidor.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3C87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 "Hello World"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365760" cy="365760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uma pasta para o projeto e rodar npm init -y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697480"/>
            <a:ext cx="365760" cy="365760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6060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o Express com npm install express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383280"/>
            <a:ext cx="365760" cy="365760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2918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index.js com uma rota "/" que responde uma mensagem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069080"/>
            <a:ext cx="365760" cy="365760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39776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com node index.js e testar no navegador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93776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9377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Meta: ver "Cannot GET /" virar sua própria mensagem no navegador.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 JSON do projeto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o projeto de vocês, crie uma rota que devolve dados em JSON.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517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rota (ex: /produtos, /servicos, /depoimentos)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1546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Retorne uma lista de pelo menos 3 itens com res.json()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490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7033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item deve ter pelo menos 2 propriedades (ex: nome e preço)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976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251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acessando a rota direto no navegador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93776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12172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51023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4128" y="51023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1225296" y="51023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3949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"/..."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res.json([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complete aqui */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]);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do dia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618488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3C8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Entendo a diferença entre front-end e back-end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82512" y="1618488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3C8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6002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20840" y="1371600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Instalei o Node.js e rodei um script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221992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468880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3C87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505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221992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o que é npm e package.json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221992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2468880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3C87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4505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2221992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usar require e module.exports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072384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319272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3C87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3009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07238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Instalei e usei o Express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072384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82512" y="3319272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3C87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3009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20840" y="307238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Criei um servidor com app.listen()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3922776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4169664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3C87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15137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3922776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Criei rotas com app.get()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3922776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82512" y="4169664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3C87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415137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20840" y="3922776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Retornei dados com res.json()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aprendemos hoje?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256032" cy="256032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08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463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x back-end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72200" y="1508760"/>
            <a:ext cx="256032" cy="256032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7" name="Text 5"/>
          <p:cNvSpPr/>
          <p:nvPr/>
        </p:nvSpPr>
        <p:spPr>
          <a:xfrm>
            <a:off x="6172200" y="1508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37960" y="1463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Node.js e por que usar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256032" cy="256032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e package.json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2103120"/>
            <a:ext cx="256032" cy="256032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103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2057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Módulos: require e module.exports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2697480"/>
            <a:ext cx="256032" cy="256032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97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651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ao Express.js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72200" y="2697480"/>
            <a:ext cx="256032" cy="256032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2697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2651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Rotas, parâmetros e respostas JSON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3291840"/>
            <a:ext cx="256032" cy="256032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91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246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completo front-end ↔ back-end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379476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379476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 vocês entendem os dois lados de uma aplicação Web: o que o usuário vê e o que roda por trás dela.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3C873A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deu o primeiro passo no back-end!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264DE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HTML/CSS/JS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3C873A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214884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172200" y="269748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etapa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389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7 — Prototipação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4983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Voltamos ao planejamento da UC: transformar o mapa do site em telas visuais antes da reta final do projeto.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2026-09-23T11:05:08Z</dcterms:created>
  <dcterms:modified xsi:type="dcterms:W3CDTF">2026-09-23T11:05:08Z</dcterms:modified>
</cp:coreProperties>
</file>