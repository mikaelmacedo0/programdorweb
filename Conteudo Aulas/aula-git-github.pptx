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40968998-0fd5-5998-5f18-161bde638820}">
          <p14:sldIdLst>
            <p14:sldId id="256"/>
            <p14:sldId id="257"/>
          </p14:sldIdLst>
        </p14:section>
        <p14:section name="Conceitos" id="{03be2377-4e81-7b0d-2e93-89fd5f94be85}">
          <p14:sldIdLst>
            <p14:sldId id="258"/>
            <p14:sldId id="259"/>
            <p14:sldId id="260"/>
            <p14:sldId id="261"/>
          </p14:sldIdLst>
        </p14:section>
        <p14:section name="Comandos" id="{1472e047-f045-6915-a6f4-9ec5076b10b5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ática" id="{6a559c99-bae2-e52a-5d60-605697dd40aa}">
          <p14:sldIdLst>
            <p14:sldId id="269"/>
            <p14:sldId id="270"/>
            <p14:sldId id="271"/>
            <p14:sldId id="272"/>
            <p14:sldId id="273"/>
          </p14:sldIdLst>
        </p14:section>
        <p14:section name="Boas práticas" id="{5013df2a-27ea-6553-5d79-75968e83064f}">
          <p14:sldIdLst>
            <p14:sldId id="274"/>
            <p14:sldId id="275"/>
            <p14:sldId id="276"/>
            <p14:sldId id="277"/>
          </p14:sldIdLst>
        </p14:section>
        <p14:section name="Fechamento" id="{b6b500e2-e2e8-505b-c5bf-1ed096f7a632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hoje vamos sair do zero e chegar a um Pull Request revisado no GitHub. Pergunte quem já usou Git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alta; eles são o checklist da aula e voltam no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da pasta projeto_final_v2_agora_vai_FINAL. Todos já viveram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é o programa; GitHub é o serviço. Dá para usar Git sem GitHub, mas não o contrário.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da mala e da foto: add escolhe o que entra na mala, commit tira a foto, push publica o álbum.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 é o save point do jogo. Branch é o caderno de rascunho: só vira livro depois de aprovado.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 é feita uma vez por máquina. Use o mesmo e-mail do GitHub para os commits ficarem associados a você.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para rodarem git status depois de cada passo. Vire reflexo.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monta a mala; commit tira a foto. Mensagem no imperativo e específica.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 é só o apelido do endereço remoto. O -u memoriza o destino do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é mais claro; checkout ainda aparece em tutoriais antigos. Os dois funcionam.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dia a dia o merge acontece pelo PR no GitHub; o merge local ajuda a entender e a resolver conflitos.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 é o pedido de entrega. Time pega bugs e compartilha conhecimento no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 portfólio em 40 a 60 minutos. Pré-requisitos: Git instalado (git --version), conta no GitHub e editor de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GitHub, deixe README, .gitignore e licença desmarcados para o repositório nascer vazio.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index.html aparecendo como untracked no status, depois como new file na staging.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Reforce: nunca trabalhe direto na main. Mostre o git diff com a linha verde do footer.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duplas: cada aluno revisa o PR do colega, comenta uma linha e escolhe Approve ou Request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Poucos hábitos, repetidos todo dia, separam quem usa Git bem de quem sofre com 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a turma reescrever as mensagens ruins antes de mostrar a coluna da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Esquecer o pull é o erro número 1: o push é rejeitado com 'fetch first'.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Conflito acontece quando duas pessoas mudam a mesma linha. É normal, não é erro seu.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Sugira que os alunos tirem print desta tela como 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retomando os objetivos. Incentive os alunos a publicarem o portfólio no GitHub como primeiro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P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FECHAMENTO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22960"/>
            <a:ext cx="7863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94"/>
                </a:solidFill>
              </a:rPr>
              <a:t>Git e GitHub  ·  Elaborar Projetos de Aplicações para Web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2296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Controle de Versão com Git e GitHub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Do primeiro commit ao Pull Request</a:t>
            </a:r>
            <a:endParaRPr lang="en-US" sz="2000" dirty="0"/>
          </a:p>
        </p:txBody>
      </p:sp>
      <p:sp>
        <p:nvSpPr>
          <p:cNvPr id="4" name="Bloco de código"/>
          <p:cNvSpPr/>
          <p:nvPr/>
        </p:nvSpPr>
        <p:spPr>
          <a:xfrm>
            <a:off x="640080" y="3337560"/>
            <a:ext cx="3931920" cy="963168"/>
          </a:xfrm>
          <a:prstGeom prst="roundRect">
            <a:avLst>
              <a:gd name="adj" fmla="val 9494"/>
            </a:avLst>
          </a:prstGeom>
          <a:solidFill>
            <a:srgbClr val="0F16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474720"/>
            <a:ext cx="3566160" cy="688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"Aula 1"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Elaborar Projetos de Aplicações para Web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 que você vai ser capaz de fazer</a:t>
            </a:r>
            <a:endParaRPr lang="en-US" sz="2800" dirty="0"/>
          </a:p>
        </p:txBody>
      </p:sp>
      <p:sp>
        <p:nvSpPr>
          <p:cNvPr id="4" name="Cartão Explicar"/>
          <p:cNvSpPr/>
          <p:nvPr/>
        </p:nvSpPr>
        <p:spPr>
          <a:xfrm>
            <a:off x="54864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713232" y="1426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408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Explicar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847088"/>
            <a:ext cx="21945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diferença entre Git e GitHub e por que ambos são padrão no mercado</a:t>
            </a:r>
            <a:endParaRPr lang="en-US" sz="1250" dirty="0"/>
          </a:p>
        </p:txBody>
      </p:sp>
      <p:sp>
        <p:nvSpPr>
          <p:cNvPr id="9" name="Cartão Configurar"/>
          <p:cNvSpPr/>
          <p:nvPr/>
        </p:nvSpPr>
        <p:spPr>
          <a:xfrm>
            <a:off x="329184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456432" y="1426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56432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977640" y="1408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Configurar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1847088"/>
            <a:ext cx="21945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 Git e iniciar (init) ou copiar (clone) um repositório</a:t>
            </a:r>
            <a:endParaRPr lang="en-US" sz="1250" dirty="0"/>
          </a:p>
        </p:txBody>
      </p:sp>
      <p:sp>
        <p:nvSpPr>
          <p:cNvPr id="14" name="Cartão Acompanhar"/>
          <p:cNvSpPr/>
          <p:nvPr/>
        </p:nvSpPr>
        <p:spPr>
          <a:xfrm>
            <a:off x="603504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6199632" y="1426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99632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1408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Acompanhar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1847088"/>
            <a:ext cx="21945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 que mudou no projeto com status e diff</a:t>
            </a:r>
            <a:endParaRPr lang="en-US" sz="1250" dirty="0"/>
          </a:p>
        </p:txBody>
      </p:sp>
      <p:sp>
        <p:nvSpPr>
          <p:cNvPr id="19" name="Cartão Registrar"/>
          <p:cNvSpPr/>
          <p:nvPr/>
        </p:nvSpPr>
        <p:spPr>
          <a:xfrm>
            <a:off x="54864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713232" y="311810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3232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30998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Registrar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3538728"/>
            <a:ext cx="21945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 histórico do projeto com add e commit</a:t>
            </a:r>
            <a:endParaRPr lang="en-US" sz="1250" dirty="0"/>
          </a:p>
        </p:txBody>
      </p:sp>
      <p:sp>
        <p:nvSpPr>
          <p:cNvPr id="24" name="Cartão Sincronizar"/>
          <p:cNvSpPr/>
          <p:nvPr/>
        </p:nvSpPr>
        <p:spPr>
          <a:xfrm>
            <a:off x="329184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5" name="Shape 22"/>
          <p:cNvSpPr/>
          <p:nvPr/>
        </p:nvSpPr>
        <p:spPr>
          <a:xfrm>
            <a:off x="3456432" y="311810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456432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977640" y="30998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Sincronizar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3474720" y="3538728"/>
            <a:ext cx="21945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seu código com o GitHub usando push e pull</a:t>
            </a:r>
            <a:endParaRPr lang="en-US" sz="1250" dirty="0"/>
          </a:p>
        </p:txBody>
      </p:sp>
      <p:sp>
        <p:nvSpPr>
          <p:cNvPr id="29" name="Cartão Colaborar"/>
          <p:cNvSpPr/>
          <p:nvPr/>
        </p:nvSpPr>
        <p:spPr>
          <a:xfrm>
            <a:off x="603504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0" name="Shape 27"/>
          <p:cNvSpPr/>
          <p:nvPr/>
        </p:nvSpPr>
        <p:spPr>
          <a:xfrm>
            <a:off x="6199632" y="311810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199632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720840" y="30998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Colaborar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217920" y="3538728"/>
            <a:ext cx="21945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 branches, merge, Pull Request e code review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Por que Git e GitHub no mercado</a:t>
            </a:r>
            <a:endParaRPr lang="en-US" sz="2800" dirty="0"/>
          </a:p>
        </p:txBody>
      </p:sp>
      <p:sp>
        <p:nvSpPr>
          <p:cNvPr id="4" name="Cartão Histórico completo"/>
          <p:cNvSpPr/>
          <p:nvPr/>
        </p:nvSpPr>
        <p:spPr>
          <a:xfrm>
            <a:off x="548640" y="128016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713232" y="1426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4081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Histórico completo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847088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alteração fica registrada com autor, data e motivo.</a:t>
            </a:r>
            <a:endParaRPr lang="en-US" sz="1400" dirty="0"/>
          </a:p>
        </p:txBody>
      </p:sp>
      <p:sp>
        <p:nvSpPr>
          <p:cNvPr id="9" name="Cartão Voltar no tempo"/>
          <p:cNvSpPr/>
          <p:nvPr/>
        </p:nvSpPr>
        <p:spPr>
          <a:xfrm>
            <a:off x="4663440" y="128016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828032" y="1426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28032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14081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Voltar no tempo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847088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Quebrou algo? Compare com a versão que funcionava.</a:t>
            </a:r>
            <a:endParaRPr lang="en-US" sz="1400" dirty="0"/>
          </a:p>
        </p:txBody>
      </p:sp>
      <p:sp>
        <p:nvSpPr>
          <p:cNvPr id="14" name="Cartão Trabalho em equipe"/>
          <p:cNvSpPr/>
          <p:nvPr/>
        </p:nvSpPr>
        <p:spPr>
          <a:xfrm>
            <a:off x="548640" y="297180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713232" y="311810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3232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0998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Trabalho em equipe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538728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Várias pessoas no mesmo projeto, sem sobrescrever o trabalho umas das outras.</a:t>
            </a:r>
            <a:endParaRPr lang="en-US" sz="1400" dirty="0"/>
          </a:p>
        </p:txBody>
      </p:sp>
      <p:sp>
        <p:nvSpPr>
          <p:cNvPr id="19" name="Cartão Portfólio e vagas"/>
          <p:cNvSpPr/>
          <p:nvPr/>
        </p:nvSpPr>
        <p:spPr>
          <a:xfrm>
            <a:off x="4663440" y="2971800"/>
            <a:ext cx="39319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4828032" y="311810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28032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349240" y="30998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Portfólio e vagas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3538728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Recrutadores olham o seu GitHub. Quase toda vaga de desenvolvimento pede Git.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Git não é GitHub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3931920" cy="26060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Git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202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Programa de controle de versão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Roda no seu computador, pelo terminal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Funciona sem internet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Registra e organiza o histórico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1234440"/>
            <a:ext cx="3931920" cy="260604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GitHub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9202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Plataforma online que hospeda repositórios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Roda na nuvem, pelo navegador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Precisa de internet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Compartilha, revisa e colabora: Pull Requests e Issues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Analogia: Git é o editor de vídeo que guarda todas as versões. GitHub é o YouTube: onde você publica e os outros comentam.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As três áreas do Git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Pasta de trabalho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0574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chemeClr val="bg2"/>
                </a:solidFill>
              </a:rPr>
              <a:t>o quarto bagunçado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286000" y="1965960"/>
            <a:ext cx="3200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531620" y="2743200"/>
            <a:ext cx="11887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531620" y="27432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51760" y="137160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43200" y="1417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Staging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20574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chemeClr val="bg2"/>
                </a:solidFill>
              </a:rPr>
              <a:t>a mala aberta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89120" y="1965960"/>
            <a:ext cx="3200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634740" y="2743200"/>
            <a:ext cx="11887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634740" y="27432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137160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46320" y="1417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Repositório local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0574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chemeClr val="bg2"/>
                </a:solidFill>
              </a:rPr>
              <a:t>o álbum de fotos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92240" y="1965960"/>
            <a:ext cx="3200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737860" y="2743200"/>
            <a:ext cx="11887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737860" y="27432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58000" y="137160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accent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949440" y="1417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GitHub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20574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chemeClr val="bg2"/>
                </a:solidFill>
              </a:rPr>
              <a:t>a nuvem, compartilhada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71600" y="3429000"/>
            <a:ext cx="63093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6" name="Shape 23"/>
          <p:cNvSpPr/>
          <p:nvPr/>
        </p:nvSpPr>
        <p:spPr>
          <a:xfrm>
            <a:off x="3840480" y="3566160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840480" y="3566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 pull traz o histórico do GitHub de volta para a sua máquina.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Commit e branch: duas analogias</a:t>
            </a:r>
            <a:endParaRPr lang="en-US" sz="2800" dirty="0"/>
          </a:p>
        </p:txBody>
      </p:sp>
      <p:sp>
        <p:nvSpPr>
          <p:cNvPr id="4" name="Cartão Commit = save point"/>
          <p:cNvSpPr/>
          <p:nvPr/>
        </p:nvSpPr>
        <p:spPr>
          <a:xfrm>
            <a:off x="548640" y="1280160"/>
            <a:ext cx="39319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0817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Commit = save point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47088"/>
            <a:ext cx="356616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Como em um jogo: se errar mais à frente, volta ao último save.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commit tem um propósito claro e uma mensagem que explica o que mudou.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 a foto da mala pronta, guardada para sempre no álbum.</a:t>
            </a:r>
            <a:endParaRPr lang="en-US" sz="1400" dirty="0"/>
          </a:p>
        </p:txBody>
      </p:sp>
      <p:sp>
        <p:nvSpPr>
          <p:cNvPr id="7" name="Cartão Branch = universo paralelo"/>
          <p:cNvSpPr/>
          <p:nvPr/>
        </p:nvSpPr>
        <p:spPr>
          <a:xfrm>
            <a:off x="4663440" y="1280160"/>
            <a:ext cx="39319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0" y="140817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Branch = universo paralelo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847088"/>
            <a:ext cx="356616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cópia de rascunho onde você experimenta sem risco.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main guarda a versão estável. Cada tarefa ganha a sua branch e só volta para a main depois de aprovada.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 escrever o capítulo em outro caderno e colar no livro depois.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Primeiros passos: config, init e clone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Configuração inicial (uma vez por máquina)</a:t>
            </a:r>
            <a:endParaRPr lang="en-US" sz="13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08760"/>
            <a:ext cx="8046720" cy="1109472"/>
          </a:xfrm>
          <a:prstGeom prst="roundRect">
            <a:avLst>
              <a:gd name="adj" fmla="val 8242"/>
            </a:avLst>
          </a:prstGeom>
          <a:solidFill>
            <a:srgbClr val="0F163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76809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"Seu Nome"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user.email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"seuemail@exemplo.com"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init.defaultBranch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--list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confere o que foi salvo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Começar do zero</a:t>
            </a:r>
            <a:endParaRPr lang="en-US" sz="1300" dirty="0"/>
          </a:p>
        </p:txBody>
      </p:sp>
      <p:sp>
        <p:nvSpPr>
          <p:cNvPr id="8" name="Bloco de código"/>
          <p:cNvSpPr/>
          <p:nvPr/>
        </p:nvSpPr>
        <p:spPr>
          <a:xfrm>
            <a:off x="548640" y="3520440"/>
            <a:ext cx="3931920" cy="524256"/>
          </a:xfrm>
          <a:prstGeom prst="roundRect">
            <a:avLst>
              <a:gd name="adj" fmla="val 17442"/>
            </a:avLst>
          </a:prstGeom>
          <a:solidFill>
            <a:srgbClr val="0F163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3657600"/>
            <a:ext cx="356616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Copiar um projeto do GitHub</a:t>
            </a:r>
            <a:endParaRPr lang="en-US" sz="1300" dirty="0"/>
          </a:p>
        </p:txBody>
      </p:sp>
      <p:sp>
        <p:nvSpPr>
          <p:cNvPr id="11" name="Bloco de código"/>
          <p:cNvSpPr/>
          <p:nvPr/>
        </p:nvSpPr>
        <p:spPr>
          <a:xfrm>
            <a:off x="4663440" y="3520440"/>
            <a:ext cx="3931920" cy="524256"/>
          </a:xfrm>
          <a:prstGeom prst="roundRect">
            <a:avLst>
              <a:gd name="adj" fmla="val 17442"/>
            </a:avLst>
          </a:prstGeom>
          <a:solidFill>
            <a:srgbClr val="0F163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46320" y="3657600"/>
            <a:ext cx="356616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&lt;URL-do-repo&gt;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init para projetos que nascem na sua máquina. clone traz o histórico e já deixa o remoto configurado.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Ver o que mudou: status e diff</a:t>
            </a:r>
            <a:endParaRPr lang="en-US" sz="2800" dirty="0"/>
          </a:p>
        </p:txBody>
      </p:sp>
      <p:sp>
        <p:nvSpPr>
          <p:cNvPr id="4" name="Bloco de código"/>
          <p:cNvSpPr/>
          <p:nvPr/>
        </p:nvSpPr>
        <p:spPr>
          <a:xfrm>
            <a:off x="548640" y="1280160"/>
            <a:ext cx="4937760" cy="865632"/>
          </a:xfrm>
          <a:prstGeom prst="roundRect">
            <a:avLst>
              <a:gd name="adj" fmla="val 10563"/>
            </a:avLst>
          </a:prstGeom>
          <a:solidFill>
            <a:srgbClr val="0F163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457200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buNone/>
            </a:pPr>
            <a:r>
              <a:rPr lang="en-US" sz="110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que mudou?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110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mudanças fora da staging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--staged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prontas para o commit</a:t>
            </a:r>
            <a:endParaRPr lang="en-US" sz="1100" dirty="0"/>
          </a:p>
        </p:txBody>
      </p:sp>
      <p:sp>
        <p:nvSpPr>
          <p:cNvPr id="6" name="Cartão Reflexo número 1"/>
          <p:cNvSpPr/>
          <p:nvPr/>
        </p:nvSpPr>
        <p:spPr>
          <a:xfrm>
            <a:off x="548640" y="2834640"/>
            <a:ext cx="4937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296265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Reflexo número 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01568"/>
            <a:ext cx="45720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Rode git status antes e depois de quase todo comando. Ele mostra a branch atual, o que está na staging e o que ainda não foi rastreado.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Como ler o diff</a:t>
            </a:r>
            <a:endParaRPr lang="en-US" sz="1300" dirty="0"/>
          </a:p>
        </p:txBody>
      </p:sp>
      <p:sp>
        <p:nvSpPr>
          <p:cNvPr id="10" name="Bloco de código"/>
          <p:cNvSpPr/>
          <p:nvPr/>
        </p:nvSpPr>
        <p:spPr>
          <a:xfrm>
            <a:off x="5760720" y="1600200"/>
            <a:ext cx="2834640" cy="670560"/>
          </a:xfrm>
          <a:prstGeom prst="roundRect">
            <a:avLst>
              <a:gd name="adj" fmla="val 13636"/>
            </a:avLst>
          </a:prstGeom>
          <a:solidFill>
            <a:srgbClr val="0F163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0" y="1737360"/>
            <a:ext cx="24688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&lt;h1&gt;Olá&lt;/h1&gt;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&lt;h1&gt;Olá, sou Ana!&lt;/h1&gt;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2606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4"/>
                </a:solidFill>
              </a:rPr>
              <a:t>Vermelho com -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linha removida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E8F6B"/>
                </a:solidFill>
              </a:rPr>
              <a:t>Verde com +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linha adicionada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Registrar o histórico: add e commit</a:t>
            </a:r>
            <a:endParaRPr lang="en-US" sz="2800" dirty="0"/>
          </a:p>
        </p:txBody>
      </p:sp>
      <p:sp>
        <p:nvSpPr>
          <p:cNvPr id="4" name="Bloco de código"/>
          <p:cNvSpPr/>
          <p:nvPr/>
        </p:nvSpPr>
        <p:spPr>
          <a:xfrm>
            <a:off x="548640" y="1280160"/>
            <a:ext cx="5120640" cy="1044448"/>
          </a:xfrm>
          <a:prstGeom prst="roundRect">
            <a:avLst>
              <a:gd name="adj" fmla="val 8755"/>
            </a:avLst>
          </a:prstGeom>
          <a:solidFill>
            <a:srgbClr val="0F163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475488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um arquivo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buNone/>
            </a:pPr>
            <a:r>
              <a:rPr lang="en-US" sz="110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tudo (confira antes!)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"Adiciona cabeçalho com menu"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--oneline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110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histórico resumido</a:t>
            </a:r>
            <a:endParaRPr lang="en-US" sz="1100" dirty="0"/>
          </a:p>
        </p:txBody>
      </p:sp>
      <p:sp>
        <p:nvSpPr>
          <p:cNvPr id="6" name="Cartão Mensagem de commit"/>
          <p:cNvSpPr/>
          <p:nvPr/>
        </p:nvSpPr>
        <p:spPr>
          <a:xfrm>
            <a:off x="548640" y="306324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319125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Mensagem de commit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3016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Diga o que mudou, no imperativo: "Corrige validação do e-mail". Daqui a seis meses é você quem vai ler.</a:t>
            </a:r>
            <a:endParaRPr lang="en-US" sz="1300" dirty="0"/>
          </a:p>
        </p:txBody>
      </p:sp>
      <p:sp>
        <p:nvSpPr>
          <p:cNvPr id="9" name="Cartão git add"/>
          <p:cNvSpPr/>
          <p:nvPr/>
        </p:nvSpPr>
        <p:spPr>
          <a:xfrm>
            <a:off x="5943600" y="128016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126480" y="1408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git add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1847088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Escolhe o que entra na mala (staging).</a:t>
            </a:r>
            <a:endParaRPr lang="en-US" sz="1300" dirty="0"/>
          </a:p>
        </p:txBody>
      </p:sp>
      <p:sp>
        <p:nvSpPr>
          <p:cNvPr id="12" name="Cartão git commit"/>
          <p:cNvSpPr/>
          <p:nvPr/>
        </p:nvSpPr>
        <p:spPr>
          <a:xfrm>
            <a:off x="5943600" y="29718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0" y="30998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git commit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3538728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Tira a foto e guarda no histórico.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Sincronizar com o GitHub: push e pull</a:t>
            </a:r>
            <a:endParaRPr lang="en-US" sz="2800" dirty="0"/>
          </a:p>
        </p:txBody>
      </p:sp>
      <p:sp>
        <p:nvSpPr>
          <p:cNvPr id="4" name="Bloco de código"/>
          <p:cNvSpPr/>
          <p:nvPr/>
        </p:nvSpPr>
        <p:spPr>
          <a:xfrm>
            <a:off x="548640" y="1280160"/>
            <a:ext cx="4937760" cy="1223264"/>
          </a:xfrm>
          <a:prstGeom prst="roundRect">
            <a:avLst>
              <a:gd name="adj" fmla="val 7475"/>
            </a:avLst>
          </a:prstGeom>
          <a:solidFill>
            <a:srgbClr val="0F163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4572000" cy="94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&lt;URL-do-repo&gt;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confere o remoto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1ª vez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10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nas próximas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10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traz novidades</a:t>
            </a:r>
            <a:endParaRPr lang="en-US" sz="1100" dirty="0"/>
          </a:p>
        </p:txBody>
      </p:sp>
      <p:sp>
        <p:nvSpPr>
          <p:cNvPr id="6" name="Cartão Commit não envia nada"/>
          <p:cNvSpPr/>
          <p:nvPr/>
        </p:nvSpPr>
        <p:spPr>
          <a:xfrm>
            <a:off x="548640" y="3383280"/>
            <a:ext cx="4937760" cy="1051560"/>
          </a:xfrm>
          <a:prstGeom prst="roundRect">
            <a:avLst>
              <a:gd name="adj" fmla="val 10435"/>
            </a:avLst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351129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Commit não envia nada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50208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Só o git push leva o histórico para a internet.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1280160"/>
            <a:ext cx="265176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0" y="1280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Seu computador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0" y="3657600"/>
            <a:ext cx="2651760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3657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GitHub (origin)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75120" y="2103120"/>
            <a:ext cx="0" cy="146304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863840" y="2103120"/>
            <a:ext cx="0" cy="14630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035040" y="2651760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035040" y="26517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23760" y="2651760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23760" y="26517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Branches: criar e navegar</a:t>
            </a:r>
            <a:endParaRPr lang="en-US" sz="2800" dirty="0"/>
          </a:p>
        </p:txBody>
      </p:sp>
      <p:sp>
        <p:nvSpPr>
          <p:cNvPr id="4" name="Bloco de código"/>
          <p:cNvSpPr/>
          <p:nvPr/>
        </p:nvSpPr>
        <p:spPr>
          <a:xfrm>
            <a:off x="548640" y="1280160"/>
            <a:ext cx="5212080" cy="1182624"/>
          </a:xfrm>
          <a:prstGeom prst="roundRect">
            <a:avLst>
              <a:gd name="adj" fmla="val 7732"/>
            </a:avLst>
          </a:prstGeom>
          <a:solidFill>
            <a:srgbClr val="0F163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484632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pPr indent="0" marL="0">
              <a:buNone/>
            </a:pPr>
            <a:r>
              <a:rPr lang="en-US" sz="105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lista (atual tem *)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feature/rodape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cria e entra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buNone/>
            </a:pPr>
            <a:r>
              <a:rPr lang="en-US" sz="105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volta para a main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feature/rodape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 antiga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feature/rodape</a:t>
            </a:r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apaga após o merge</a:t>
            </a:r>
            <a:endParaRPr lang="en-US" sz="1050" dirty="0"/>
          </a:p>
        </p:txBody>
      </p:sp>
      <p:sp>
        <p:nvSpPr>
          <p:cNvPr id="6" name="Cartão Nomes que dizem a que vieram"/>
          <p:cNvSpPr/>
          <p:nvPr/>
        </p:nvSpPr>
        <p:spPr>
          <a:xfrm>
            <a:off x="548640" y="3383280"/>
            <a:ext cx="52120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351129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Nomes que dizem a que vieram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50208"/>
            <a:ext cx="4846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feature/login, fix/menu-mobile, docs/readme</a:t>
            </a:r>
            <a:endParaRPr lang="en-US" sz="1300" dirty="0"/>
          </a:p>
        </p:txBody>
      </p:sp>
      <p:sp>
        <p:nvSpPr>
          <p:cNvPr id="9" name="Cartão switch x checkout"/>
          <p:cNvSpPr/>
          <p:nvPr/>
        </p:nvSpPr>
        <p:spPr>
          <a:xfrm>
            <a:off x="6035040" y="1280160"/>
            <a:ext cx="2560320" cy="31546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17920" y="140817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switch x checkout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1847088"/>
            <a:ext cx="219456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switch só troca de branch: mais claro e seguro.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checkout faz isso e mais coisas. Por isso aparece em tutoriais antigos.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Use switch.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Merge: juntando os caminhos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22960" y="2011680"/>
            <a:ext cx="356616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645920" y="2011680"/>
            <a:ext cx="548640" cy="137160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94560" y="3383280"/>
            <a:ext cx="9144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3108960" y="2011680"/>
            <a:ext cx="1280160" cy="137160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1847088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1481328" y="1847088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Shape 7"/>
          <p:cNvSpPr/>
          <p:nvPr/>
        </p:nvSpPr>
        <p:spPr>
          <a:xfrm>
            <a:off x="2487168" y="1847088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Shape 8"/>
          <p:cNvSpPr/>
          <p:nvPr/>
        </p:nvSpPr>
        <p:spPr>
          <a:xfrm>
            <a:off x="2029968" y="321868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hape 9"/>
          <p:cNvSpPr/>
          <p:nvPr/>
        </p:nvSpPr>
        <p:spPr>
          <a:xfrm>
            <a:off x="2944368" y="321868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hape 10"/>
          <p:cNvSpPr/>
          <p:nvPr/>
        </p:nvSpPr>
        <p:spPr>
          <a:xfrm>
            <a:off x="4224528" y="184708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main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01168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feature/rodape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38328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6"/>
                </a:solidFill>
              </a:rPr>
              <a:t>commit de merge</a:t>
            </a:r>
            <a:endParaRPr lang="en-US" sz="1150" dirty="0"/>
          </a:p>
        </p:txBody>
      </p:sp>
      <p:sp>
        <p:nvSpPr>
          <p:cNvPr id="17" name="Bloco de código"/>
          <p:cNvSpPr/>
          <p:nvPr/>
        </p:nvSpPr>
        <p:spPr>
          <a:xfrm>
            <a:off x="5029200" y="1280160"/>
            <a:ext cx="3566160" cy="865632"/>
          </a:xfrm>
          <a:prstGeom prst="roundRect">
            <a:avLst>
              <a:gd name="adj" fmla="val 10563"/>
            </a:avLst>
          </a:prstGeom>
          <a:solidFill>
            <a:srgbClr val="0F163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212080" y="1417320"/>
            <a:ext cx="320040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feature/rodape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feature/rodape</a:t>
            </a:r>
            <a:endParaRPr lang="en-US" sz="1100" dirty="0"/>
          </a:p>
        </p:txBody>
      </p:sp>
      <p:sp>
        <p:nvSpPr>
          <p:cNvPr id="19" name="Cartão Onde o merge acontece"/>
          <p:cNvSpPr/>
          <p:nvPr/>
        </p:nvSpPr>
        <p:spPr>
          <a:xfrm>
            <a:off x="5029200" y="269748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212080" y="282549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Onde o merge acontece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3264408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 time, o merge costuma ser feito pelo Pull Request no GitHub. O merge local serve para entender o conceito e resolver conflitos.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Pull Request e Code Review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325880" y="1600200"/>
            <a:ext cx="64922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430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Push da branch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31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git push -u origin feature/...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8892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788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Abrir o PR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194560" y="2331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Compare &amp; pull request, com título e descrição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3484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348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Code review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331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Comentários linha a linha em Files changed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8076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080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Ajustes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0" y="2331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Novos commits na mesma branch atualizam o PR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26680" y="1371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266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Merge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0" y="2331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Merge pull request e Delete branch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3429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 revisor escolhe um destes resultados: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3794760"/>
            <a:ext cx="256032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48640" y="3794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Comment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291840" y="3794760"/>
            <a:ext cx="256032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291840" y="3794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Approve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035040" y="3794760"/>
            <a:ext cx="256032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035040" y="3794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Request changes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Roteiro prático: do zero ao PR</a:t>
            </a:r>
            <a:endParaRPr lang="en-US" sz="2800" dirty="0"/>
          </a:p>
        </p:txBody>
      </p:sp>
      <p:sp>
        <p:nvSpPr>
          <p:cNvPr id="4" name="Cartão "/>
          <p:cNvSpPr/>
          <p:nvPr/>
        </p:nvSpPr>
        <p:spPr>
          <a:xfrm>
            <a:off x="548640" y="1280160"/>
            <a:ext cx="1874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713232" y="1426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4081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Configurar o Git</a:t>
            </a:r>
            <a:endParaRPr lang="en-US" sz="1250" dirty="0"/>
          </a:p>
        </p:txBody>
      </p:sp>
      <p:sp>
        <p:nvSpPr>
          <p:cNvPr id="9" name="Cartão "/>
          <p:cNvSpPr/>
          <p:nvPr/>
        </p:nvSpPr>
        <p:spPr>
          <a:xfrm>
            <a:off x="2560320" y="1280160"/>
            <a:ext cx="1874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2724912" y="1426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24912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246120" y="14081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0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Criar o repo no GitHub</a:t>
            </a:r>
            <a:endParaRPr lang="en-US" sz="1250" dirty="0"/>
          </a:p>
        </p:txBody>
      </p:sp>
      <p:sp>
        <p:nvSpPr>
          <p:cNvPr id="14" name="Cartão "/>
          <p:cNvSpPr/>
          <p:nvPr/>
        </p:nvSpPr>
        <p:spPr>
          <a:xfrm>
            <a:off x="4572000" y="1280160"/>
            <a:ext cx="1874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4736592" y="1426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736592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257800" y="14081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212080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Rodar git init</a:t>
            </a:r>
            <a:endParaRPr lang="en-US" sz="1250" dirty="0"/>
          </a:p>
        </p:txBody>
      </p:sp>
      <p:sp>
        <p:nvSpPr>
          <p:cNvPr id="19" name="Cartão "/>
          <p:cNvSpPr/>
          <p:nvPr/>
        </p:nvSpPr>
        <p:spPr>
          <a:xfrm>
            <a:off x="6583680" y="1280160"/>
            <a:ext cx="1874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6748272" y="1426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748272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269480" y="14081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1371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Criar o index.html</a:t>
            </a:r>
            <a:endParaRPr lang="en-US" sz="1250" dirty="0"/>
          </a:p>
        </p:txBody>
      </p:sp>
      <p:sp>
        <p:nvSpPr>
          <p:cNvPr id="24" name="Cartão "/>
          <p:cNvSpPr/>
          <p:nvPr/>
        </p:nvSpPr>
        <p:spPr>
          <a:xfrm>
            <a:off x="548640" y="2377440"/>
            <a:ext cx="1874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5" name="Shape 22"/>
          <p:cNvSpPr/>
          <p:nvPr/>
        </p:nvSpPr>
        <p:spPr>
          <a:xfrm>
            <a:off x="713232" y="25237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13232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250545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18872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Primeiro commit</a:t>
            </a:r>
            <a:endParaRPr lang="en-US" sz="1250" dirty="0"/>
          </a:p>
        </p:txBody>
      </p:sp>
      <p:sp>
        <p:nvSpPr>
          <p:cNvPr id="29" name="Cartão "/>
          <p:cNvSpPr/>
          <p:nvPr/>
        </p:nvSpPr>
        <p:spPr>
          <a:xfrm>
            <a:off x="2560320" y="2377440"/>
            <a:ext cx="1874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30" name="Shape 27"/>
          <p:cNvSpPr/>
          <p:nvPr/>
        </p:nvSpPr>
        <p:spPr>
          <a:xfrm>
            <a:off x="2724912" y="25237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2724912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246120" y="250545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320040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Push para o GitHub</a:t>
            </a:r>
            <a:endParaRPr lang="en-US" sz="1250" dirty="0"/>
          </a:p>
        </p:txBody>
      </p:sp>
      <p:sp>
        <p:nvSpPr>
          <p:cNvPr id="34" name="Cartão "/>
          <p:cNvSpPr/>
          <p:nvPr/>
        </p:nvSpPr>
        <p:spPr>
          <a:xfrm>
            <a:off x="4572000" y="237744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D5E8F1"/>
          </a:solidFill>
          <a:ln/>
        </p:spPr>
      </p:sp>
      <p:sp>
        <p:nvSpPr>
          <p:cNvPr id="35" name="Shape 32"/>
          <p:cNvSpPr/>
          <p:nvPr/>
        </p:nvSpPr>
        <p:spPr>
          <a:xfrm>
            <a:off x="4736592" y="25237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736592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257800" y="250545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21208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Criar a branch</a:t>
            </a:r>
            <a:endParaRPr lang="en-US" sz="1250" dirty="0"/>
          </a:p>
        </p:txBody>
      </p:sp>
      <p:sp>
        <p:nvSpPr>
          <p:cNvPr id="39" name="Cartão "/>
          <p:cNvSpPr/>
          <p:nvPr/>
        </p:nvSpPr>
        <p:spPr>
          <a:xfrm>
            <a:off x="6583680" y="237744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D5E8F1"/>
          </a:solidFill>
          <a:ln/>
        </p:spPr>
      </p:sp>
      <p:sp>
        <p:nvSpPr>
          <p:cNvPr id="40" name="Shape 37"/>
          <p:cNvSpPr/>
          <p:nvPr/>
        </p:nvSpPr>
        <p:spPr>
          <a:xfrm>
            <a:off x="6748272" y="25237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748272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269480" y="250545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722376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Alterar e commitar</a:t>
            </a:r>
            <a:endParaRPr lang="en-US" sz="1250" dirty="0"/>
          </a:p>
        </p:txBody>
      </p:sp>
      <p:sp>
        <p:nvSpPr>
          <p:cNvPr id="44" name="Cartão "/>
          <p:cNvSpPr/>
          <p:nvPr/>
        </p:nvSpPr>
        <p:spPr>
          <a:xfrm>
            <a:off x="548640" y="347472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D5E8F1"/>
          </a:solidFill>
          <a:ln/>
        </p:spPr>
      </p:sp>
      <p:sp>
        <p:nvSpPr>
          <p:cNvPr id="45" name="Shape 42"/>
          <p:cNvSpPr/>
          <p:nvPr/>
        </p:nvSpPr>
        <p:spPr>
          <a:xfrm>
            <a:off x="713232" y="3621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13232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1234440" y="36027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1188720" y="35661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Push da branch</a:t>
            </a:r>
            <a:endParaRPr lang="en-US" sz="1250" dirty="0"/>
          </a:p>
        </p:txBody>
      </p:sp>
      <p:sp>
        <p:nvSpPr>
          <p:cNvPr id="49" name="Cartão "/>
          <p:cNvSpPr/>
          <p:nvPr/>
        </p:nvSpPr>
        <p:spPr>
          <a:xfrm>
            <a:off x="2560320" y="347472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CE9C8"/>
          </a:solidFill>
          <a:ln/>
        </p:spPr>
      </p:sp>
      <p:sp>
        <p:nvSpPr>
          <p:cNvPr id="50" name="Shape 47"/>
          <p:cNvSpPr/>
          <p:nvPr/>
        </p:nvSpPr>
        <p:spPr>
          <a:xfrm>
            <a:off x="2724912" y="3621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2724912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3246120" y="36027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3200400" y="35661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Abrir o Pull Request</a:t>
            </a:r>
            <a:endParaRPr lang="en-US" sz="1250" dirty="0"/>
          </a:p>
        </p:txBody>
      </p:sp>
      <p:sp>
        <p:nvSpPr>
          <p:cNvPr id="54" name="Cartão "/>
          <p:cNvSpPr/>
          <p:nvPr/>
        </p:nvSpPr>
        <p:spPr>
          <a:xfrm>
            <a:off x="4572000" y="347472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CE9C8"/>
          </a:solidFill>
          <a:ln/>
        </p:spPr>
      </p:sp>
      <p:sp>
        <p:nvSpPr>
          <p:cNvPr id="55" name="Shape 52"/>
          <p:cNvSpPr/>
          <p:nvPr/>
        </p:nvSpPr>
        <p:spPr>
          <a:xfrm>
            <a:off x="4736592" y="3621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4736592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5257800" y="36027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12080" y="35661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Code review em duplas</a:t>
            </a:r>
            <a:endParaRPr lang="en-US" sz="1250" dirty="0"/>
          </a:p>
        </p:txBody>
      </p:sp>
      <p:sp>
        <p:nvSpPr>
          <p:cNvPr id="59" name="Cartão "/>
          <p:cNvSpPr/>
          <p:nvPr/>
        </p:nvSpPr>
        <p:spPr>
          <a:xfrm>
            <a:off x="6583680" y="347472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CE9C8"/>
          </a:solidFill>
          <a:ln/>
        </p:spPr>
      </p:sp>
      <p:sp>
        <p:nvSpPr>
          <p:cNvPr id="60" name="Shape 57"/>
          <p:cNvSpPr/>
          <p:nvPr/>
        </p:nvSpPr>
        <p:spPr>
          <a:xfrm>
            <a:off x="6748272" y="3621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6748272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7269480" y="36027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7223760" y="35661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Merge e git pull</a:t>
            </a:r>
            <a:endParaRPr lang="en-US" sz="1250" dirty="0"/>
          </a:p>
        </p:txBody>
      </p:sp>
      <p:sp>
        <p:nvSpPr>
          <p:cNvPr id="64" name="Text 61"/>
          <p:cNvSpPr txBox="1"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Meta final: repositório conectado, dois ou mais commits, PR revisado e fundido, main local atualizada.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Prática 1 de 4: preparar o terreno</a:t>
            </a:r>
            <a:endParaRPr lang="en-US" sz="2800" dirty="0"/>
          </a:p>
        </p:txBody>
      </p:sp>
      <p:sp>
        <p:nvSpPr>
          <p:cNvPr id="4" name="Cartão Configure o Git"/>
          <p:cNvSpPr/>
          <p:nvPr/>
        </p:nvSpPr>
        <p:spPr>
          <a:xfrm>
            <a:off x="548640" y="1188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713232" y="1335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316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Configure o Git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55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Nome, e-mail e branch padrão main.</a:t>
            </a:r>
            <a:endParaRPr lang="en-US" sz="1250" dirty="0"/>
          </a:p>
        </p:txBody>
      </p:sp>
      <p:sp>
        <p:nvSpPr>
          <p:cNvPr id="9" name="Cartão Crie o repo no GitHub"/>
          <p:cNvSpPr/>
          <p:nvPr/>
        </p:nvSpPr>
        <p:spPr>
          <a:xfrm>
            <a:off x="548640" y="2331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478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3232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459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Crie o repo no GitHub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898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New repository, nome meu-portfolio, sem README. Copie a URL.</a:t>
            </a:r>
            <a:endParaRPr lang="en-US" sz="1250" dirty="0"/>
          </a:p>
        </p:txBody>
      </p:sp>
      <p:sp>
        <p:nvSpPr>
          <p:cNvPr id="14" name="Cartão Crie o projeto local"/>
          <p:cNvSpPr/>
          <p:nvPr/>
        </p:nvSpPr>
        <p:spPr>
          <a:xfrm>
            <a:off x="548640" y="3474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713232" y="3621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3232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602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Crie o projeto local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4041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Pasta nova e git init dentro dela.</a:t>
            </a:r>
            <a:endParaRPr lang="en-US" sz="1250" dirty="0"/>
          </a:p>
        </p:txBody>
      </p:sp>
      <p:sp>
        <p:nvSpPr>
          <p:cNvPr id="19" name="Bloco de código"/>
          <p:cNvSpPr/>
          <p:nvPr/>
        </p:nvSpPr>
        <p:spPr>
          <a:xfrm>
            <a:off x="4663440" y="1188720"/>
            <a:ext cx="3931920" cy="1467104"/>
          </a:xfrm>
          <a:prstGeom prst="roundRect">
            <a:avLst>
              <a:gd name="adj" fmla="val 6233"/>
            </a:avLst>
          </a:prstGeom>
          <a:solidFill>
            <a:srgbClr val="0F163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46320" y="1325880"/>
            <a:ext cx="3566160" cy="1192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"Seu Nome"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user.email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"voce@mail.com"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init.defaultBranch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meu-portfolio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meu-portfolio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Prática 2 de 4: primeiro commit e push</a:t>
            </a:r>
            <a:endParaRPr lang="en-US" sz="2800" dirty="0"/>
          </a:p>
        </p:txBody>
      </p:sp>
      <p:sp>
        <p:nvSpPr>
          <p:cNvPr id="4" name="Cartão Crie o index.html"/>
          <p:cNvSpPr/>
          <p:nvPr/>
        </p:nvSpPr>
        <p:spPr>
          <a:xfrm>
            <a:off x="548640" y="1188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713232" y="1335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316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Crie o index.html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55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Um h1 com o seu nome. Rode git status: ele aparece como untracked.</a:t>
            </a:r>
            <a:endParaRPr lang="en-US" sz="1200" dirty="0"/>
          </a:p>
        </p:txBody>
      </p:sp>
      <p:sp>
        <p:nvSpPr>
          <p:cNvPr id="9" name="Cartão Primeiro commit"/>
          <p:cNvSpPr/>
          <p:nvPr/>
        </p:nvSpPr>
        <p:spPr>
          <a:xfrm>
            <a:off x="548640" y="2331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478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3232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459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Primeiro commit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898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git add, conferir o status e git commit com mensagem clara.</a:t>
            </a:r>
            <a:endParaRPr lang="en-US" sz="1200" dirty="0"/>
          </a:p>
        </p:txBody>
      </p:sp>
      <p:sp>
        <p:nvSpPr>
          <p:cNvPr id="14" name="Cartão Envie ao GitHub"/>
          <p:cNvSpPr/>
          <p:nvPr/>
        </p:nvSpPr>
        <p:spPr>
          <a:xfrm>
            <a:off x="548640" y="3474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713232" y="3621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3232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602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Envie ao GitHub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4041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Conecte o remoto, faça o push e atualize a página do repositório.</a:t>
            </a:r>
            <a:endParaRPr lang="en-US" sz="1200" dirty="0"/>
          </a:p>
        </p:txBody>
      </p:sp>
      <p:sp>
        <p:nvSpPr>
          <p:cNvPr id="19" name="Bloco de código"/>
          <p:cNvSpPr/>
          <p:nvPr/>
        </p:nvSpPr>
        <p:spPr>
          <a:xfrm>
            <a:off x="4663440" y="1188720"/>
            <a:ext cx="3931920" cy="1467104"/>
          </a:xfrm>
          <a:prstGeom prst="roundRect">
            <a:avLst>
              <a:gd name="adj" fmla="val 6233"/>
            </a:avLst>
          </a:prstGeom>
          <a:solidFill>
            <a:srgbClr val="0F163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46320" y="1325880"/>
            <a:ext cx="3566160" cy="1192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"Cria página inicial"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--oneline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&lt;URL-do-repo&gt;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Prática 3 de 4: branch e alteração</a:t>
            </a:r>
            <a:endParaRPr lang="en-US" sz="2800" dirty="0"/>
          </a:p>
        </p:txBody>
      </p:sp>
      <p:sp>
        <p:nvSpPr>
          <p:cNvPr id="4" name="Cartão Crie a branch"/>
          <p:cNvSpPr/>
          <p:nvPr/>
        </p:nvSpPr>
        <p:spPr>
          <a:xfrm>
            <a:off x="548640" y="1188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713232" y="1335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316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Crie a branch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55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Uma branch para a tarefa: adicionar um rodapé.</a:t>
            </a:r>
            <a:endParaRPr lang="en-US" sz="1250" dirty="0"/>
          </a:p>
        </p:txBody>
      </p:sp>
      <p:sp>
        <p:nvSpPr>
          <p:cNvPr id="9" name="Cartão Altere, confira e registre"/>
          <p:cNvSpPr/>
          <p:nvPr/>
        </p:nvSpPr>
        <p:spPr>
          <a:xfrm>
            <a:off x="548640" y="2331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478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3232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459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Altere, confira e registre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898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Adicione o footer, veja o git diff e faça o commit.</a:t>
            </a:r>
            <a:endParaRPr lang="en-US" sz="1250" dirty="0"/>
          </a:p>
        </p:txBody>
      </p:sp>
      <p:sp>
        <p:nvSpPr>
          <p:cNvPr id="14" name="Cartão Envie a branch"/>
          <p:cNvSpPr/>
          <p:nvPr/>
        </p:nvSpPr>
        <p:spPr>
          <a:xfrm>
            <a:off x="548640" y="3474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713232" y="3621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3232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602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Envie a branch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4041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Push com -u para criar a branch no GitHub.</a:t>
            </a:r>
            <a:endParaRPr lang="en-US" sz="1250" dirty="0"/>
          </a:p>
        </p:txBody>
      </p:sp>
      <p:sp>
        <p:nvSpPr>
          <p:cNvPr id="19" name="Bloco de código"/>
          <p:cNvSpPr/>
          <p:nvPr/>
        </p:nvSpPr>
        <p:spPr>
          <a:xfrm>
            <a:off x="4663440" y="1188720"/>
            <a:ext cx="3931920" cy="1792224"/>
          </a:xfrm>
          <a:prstGeom prst="roundRect">
            <a:avLst>
              <a:gd name="adj" fmla="val 5102"/>
            </a:avLst>
          </a:prstGeom>
          <a:solidFill>
            <a:srgbClr val="0F163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46320" y="1325880"/>
            <a:ext cx="35661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feature/rodape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adicione no index.html: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&lt;footer&gt;© 2026&lt;/footer&gt;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"Adiciona rodapé ao site"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feature/rodape</a:t>
            </a:r>
            <a:endParaRPr lang="en-US" sz="1000" dirty="0"/>
          </a:p>
        </p:txBody>
      </p:sp>
      <p:sp>
        <p:nvSpPr>
          <p:cNvPr id="21" name="Cartão Regra de ouro"/>
          <p:cNvSpPr/>
          <p:nvPr/>
        </p:nvSpPr>
        <p:spPr>
          <a:xfrm>
            <a:off x="4663440" y="3474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46320" y="360273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Regra de ouro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4041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Nunca trabalhe direto na main.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Prática 4 de 4: PR, review e merge</a:t>
            </a:r>
            <a:endParaRPr lang="en-US" sz="2800" dirty="0"/>
          </a:p>
        </p:txBody>
      </p:sp>
      <p:sp>
        <p:nvSpPr>
          <p:cNvPr id="4" name="Cartão Abra o Pull Request"/>
          <p:cNvSpPr/>
          <p:nvPr/>
        </p:nvSpPr>
        <p:spPr>
          <a:xfrm>
            <a:off x="548640" y="1188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713232" y="1335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316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Abra o Pull Request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55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Compare &amp; pull request, base main, título e descrição do que mudou.</a:t>
            </a:r>
            <a:endParaRPr lang="en-US" sz="1200" dirty="0"/>
          </a:p>
        </p:txBody>
      </p:sp>
      <p:sp>
        <p:nvSpPr>
          <p:cNvPr id="9" name="Cartão Faça o code review"/>
          <p:cNvSpPr/>
          <p:nvPr/>
        </p:nvSpPr>
        <p:spPr>
          <a:xfrm>
            <a:off x="548640" y="2331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478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3232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459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Faça o code review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898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Files changed, comente uma linha e escolha Approve ou Request changes.</a:t>
            </a:r>
            <a:endParaRPr lang="en-US" sz="1200" dirty="0"/>
          </a:p>
        </p:txBody>
      </p:sp>
      <p:sp>
        <p:nvSpPr>
          <p:cNvPr id="14" name="Cartão Merge e atualização"/>
          <p:cNvSpPr/>
          <p:nvPr/>
        </p:nvSpPr>
        <p:spPr>
          <a:xfrm>
            <a:off x="548640" y="3474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713232" y="3621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3232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602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Merge e atualização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4041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Merge pull request, Delete branch e git pull na sua máquina.</a:t>
            </a:r>
            <a:endParaRPr lang="en-US" sz="1200" dirty="0"/>
          </a:p>
        </p:txBody>
      </p:sp>
      <p:sp>
        <p:nvSpPr>
          <p:cNvPr id="19" name="Bloco de código"/>
          <p:cNvSpPr/>
          <p:nvPr/>
        </p:nvSpPr>
        <p:spPr>
          <a:xfrm>
            <a:off x="4663440" y="1188720"/>
            <a:ext cx="3931920" cy="1044448"/>
          </a:xfrm>
          <a:prstGeom prst="roundRect">
            <a:avLst>
              <a:gd name="adj" fmla="val 8755"/>
            </a:avLst>
          </a:prstGeom>
          <a:solidFill>
            <a:srgbClr val="0F163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46320" y="1325880"/>
            <a:ext cx="356616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feature/rodape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--oneline</a:t>
            </a:r>
            <a:endParaRPr lang="en-US" sz="1100" dirty="0"/>
          </a:p>
        </p:txBody>
      </p:sp>
      <p:sp>
        <p:nvSpPr>
          <p:cNvPr id="21" name="Cartão Checklist final"/>
          <p:cNvSpPr/>
          <p:nvPr/>
        </p:nvSpPr>
        <p:spPr>
          <a:xfrm>
            <a:off x="4663440" y="2743200"/>
            <a:ext cx="39319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46320" y="28712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Checklist final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3310128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Repo criado e conectado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 ou mais commits claros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 aberto, revisado e fundido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main local atualizada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Boas práticas</a:t>
            </a:r>
            <a:endParaRPr lang="en-US" sz="2800" dirty="0"/>
          </a:p>
        </p:txBody>
      </p:sp>
      <p:sp>
        <p:nvSpPr>
          <p:cNvPr id="4" name="Cartão Commits pequenos"/>
          <p:cNvSpPr/>
          <p:nvPr/>
        </p:nvSpPr>
        <p:spPr>
          <a:xfrm>
            <a:off x="5486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713232" y="1426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3232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408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Commits pequenos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84708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Uma correção, um commit. Um único propósito.</a:t>
            </a:r>
            <a:endParaRPr lang="en-US" sz="1250" dirty="0"/>
          </a:p>
        </p:txBody>
      </p:sp>
      <p:sp>
        <p:nvSpPr>
          <p:cNvPr id="9" name="Cartão Mensagens claras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456432" y="1426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56432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977640" y="1408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Mensagens claras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184708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 imperativo e específicas: o quê mudou.</a:t>
            </a:r>
            <a:endParaRPr lang="en-US" sz="1250" dirty="0"/>
          </a:p>
        </p:txBody>
      </p:sp>
      <p:sp>
        <p:nvSpPr>
          <p:cNvPr id="14" name="Cartão Uma branch por tarefa"/>
          <p:cNvSpPr/>
          <p:nvPr/>
        </p:nvSpPr>
        <p:spPr>
          <a:xfrm>
            <a:off x="60350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6199632" y="1426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99632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1408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Uma branch por tarefa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184708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feature/login, fix/menu-mobile.</a:t>
            </a:r>
            <a:endParaRPr lang="en-US" sz="1250" dirty="0"/>
          </a:p>
        </p:txBody>
      </p:sp>
      <p:sp>
        <p:nvSpPr>
          <p:cNvPr id="19" name="Cartão Nunca na main"/>
          <p:cNvSpPr/>
          <p:nvPr/>
        </p:nvSpPr>
        <p:spPr>
          <a:xfrm>
            <a:off x="5486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713232" y="30723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3232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30540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Nunca na main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349300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Ela deve estar sempre funcionando.</a:t>
            </a:r>
            <a:endParaRPr lang="en-US" sz="1250" dirty="0"/>
          </a:p>
        </p:txBody>
      </p:sp>
      <p:sp>
        <p:nvSpPr>
          <p:cNvPr id="24" name="Cartão status e diff antes do commit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5" name="Shape 22"/>
          <p:cNvSpPr/>
          <p:nvPr/>
        </p:nvSpPr>
        <p:spPr>
          <a:xfrm>
            <a:off x="3456432" y="30723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456432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977640" y="30540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status e diff antes do commit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3474720" y="349300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Saiba exatamente o que vai entrar.</a:t>
            </a:r>
            <a:endParaRPr lang="en-US" sz="1250" dirty="0"/>
          </a:p>
        </p:txBody>
      </p:sp>
      <p:sp>
        <p:nvSpPr>
          <p:cNvPr id="29" name="Cartão git pull ao começar"/>
          <p:cNvSpPr/>
          <p:nvPr/>
        </p:nvSpPr>
        <p:spPr>
          <a:xfrm>
            <a:off x="60350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30" name="Shape 27"/>
          <p:cNvSpPr/>
          <p:nvPr/>
        </p:nvSpPr>
        <p:spPr>
          <a:xfrm>
            <a:off x="6199632" y="30723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199632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720840" y="30540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git pull ao começar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6217920" y="349300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 PRs pequenos, fáceis de revisar.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Mensagens de commit: ruim x boa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3566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Ruim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Por que é ruim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Melhor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48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ajustes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F94"/>
                          </a:solidFill>
                        </a:rPr>
                        <a:t>Não diz o quê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50"/>
                          </a:solidFill>
                        </a:rPr>
                        <a:t>Ajusta espaçamento dos cards no mobile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48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F94"/>
                          </a:solidFill>
                        </a:rPr>
                        <a:t>Não diz qual problema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50"/>
                          </a:solidFill>
                        </a:rPr>
                        <a:t>Corrige erro ao enviar formulário vazio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48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asdf / teste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F94"/>
                          </a:solidFill>
                        </a:rPr>
                        <a:t>Sem sentido no histórico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50"/>
                          </a:solidFill>
                        </a:rPr>
                        <a:t>Adiciona validação de e-mail no cadastro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48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Várias alterações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F94"/>
                          </a:solidFill>
                        </a:rPr>
                        <a:t>Commit grande demais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50"/>
                          </a:solidFill>
                        </a:rPr>
                        <a:t>Um commit por mudança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48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agora vai!!!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6F94"/>
                          </a:solidFill>
                        </a:rPr>
                        <a:t>Mostra o desespero, não a mudança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50"/>
                          </a:solidFill>
                        </a:rPr>
                        <a:t>Corrige caminho da imagem do banner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Erros comuns e como evitar</a:t>
            </a:r>
            <a:endParaRPr lang="en-US" sz="2800" dirty="0"/>
          </a:p>
        </p:txBody>
      </p:sp>
      <p:sp>
        <p:nvSpPr>
          <p:cNvPr id="4" name="Cartão Esquecer o git pull"/>
          <p:cNvSpPr/>
          <p:nvPr/>
        </p:nvSpPr>
        <p:spPr>
          <a:xfrm>
            <a:off x="5486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0817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Esquecer o git pull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4708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Você edita uma versão antiga e o push é rejeitado. Rode git pull antes de começar.</a:t>
            </a:r>
            <a:endParaRPr lang="en-US" sz="1150" dirty="0"/>
          </a:p>
        </p:txBody>
      </p:sp>
      <p:sp>
        <p:nvSpPr>
          <p:cNvPr id="7" name="Cartão Commitar na main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474720" y="140817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Commitar na main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184708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Trabalho no lugar errado. Confira a branch com git branch antes de editar.</a:t>
            </a:r>
            <a:endParaRPr lang="en-US" sz="1150" dirty="0"/>
          </a:p>
        </p:txBody>
      </p:sp>
      <p:sp>
        <p:nvSpPr>
          <p:cNvPr id="10" name="Cartão git add . sem olhar"/>
          <p:cNvSpPr/>
          <p:nvPr/>
        </p:nvSpPr>
        <p:spPr>
          <a:xfrm>
            <a:off x="60350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140817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git add . sem olhar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84708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Arquivos indesejados entram. Rode git status antes.</a:t>
            </a:r>
            <a:endParaRPr lang="en-US" sz="1150" dirty="0"/>
          </a:p>
        </p:txBody>
      </p:sp>
      <p:sp>
        <p:nvSpPr>
          <p:cNvPr id="13" name="Cartão Subir segredos"/>
          <p:cNvSpPr/>
          <p:nvPr/>
        </p:nvSpPr>
        <p:spPr>
          <a:xfrm>
            <a:off x="5486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31520" y="30540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Subir segredos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49300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.env e node_modules vão no .gitignore. Senha enviada: troque na hora.</a:t>
            </a:r>
            <a:endParaRPr lang="en-US" sz="1150" dirty="0"/>
          </a:p>
        </p:txBody>
      </p:sp>
      <p:sp>
        <p:nvSpPr>
          <p:cNvPr id="16" name="Cartão Trocar de branch sem commitar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474720" y="30540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Trocar de branch sem commitar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349300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Faça commit ou git stash antes de mudar.</a:t>
            </a:r>
            <a:endParaRPr lang="en-US" sz="1150" dirty="0"/>
          </a:p>
        </p:txBody>
      </p:sp>
      <p:sp>
        <p:nvSpPr>
          <p:cNvPr id="19" name="Cartão Confundir Git com GitHub"/>
          <p:cNvSpPr/>
          <p:nvPr/>
        </p:nvSpPr>
        <p:spPr>
          <a:xfrm>
            <a:off x="60350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17920" y="30540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Confundir Git com GitHub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349300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Commit não envia nada. Só o git push leva ao GitHub.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Conflito de merge sem pânico</a:t>
            </a:r>
            <a:endParaRPr lang="en-US" sz="2800" dirty="0"/>
          </a:p>
        </p:txBody>
      </p:sp>
      <p:sp>
        <p:nvSpPr>
          <p:cNvPr id="4" name="Bloco de código"/>
          <p:cNvSpPr/>
          <p:nvPr/>
        </p:nvSpPr>
        <p:spPr>
          <a:xfrm>
            <a:off x="548640" y="1280160"/>
            <a:ext cx="4206240" cy="1263904"/>
          </a:xfrm>
          <a:prstGeom prst="roundRect">
            <a:avLst>
              <a:gd name="adj" fmla="val 7235"/>
            </a:avLst>
          </a:prstGeom>
          <a:solidFill>
            <a:srgbClr val="0F163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3840480" cy="98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&lt;h1&gt;Meu Portfólio&lt;/h1&gt;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&lt;h1&gt;Portfólio de Ana&lt;/h1&gt;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feature/titulo</a:t>
            </a:r>
            <a:endParaRPr lang="en-US" sz="1150" dirty="0"/>
          </a:p>
        </p:txBody>
      </p:sp>
      <p:sp>
        <p:nvSpPr>
          <p:cNvPr id="6" name="Cartão Conflito é normal"/>
          <p:cNvSpPr/>
          <p:nvPr/>
        </p:nvSpPr>
        <p:spPr>
          <a:xfrm>
            <a:off x="548640" y="3108960"/>
            <a:ext cx="4206240" cy="1280160"/>
          </a:xfrm>
          <a:prstGeom prst="roundRect">
            <a:avLst>
              <a:gd name="adj" fmla="val 8571"/>
            </a:avLst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32369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Conflito é normal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7588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Git só pede ajuda quando não sabe qual versão manter. Não é erro seu.</a:t>
            </a:r>
            <a:endParaRPr lang="en-US" sz="1300" dirty="0"/>
          </a:p>
        </p:txBody>
      </p:sp>
      <p:sp>
        <p:nvSpPr>
          <p:cNvPr id="9" name="Cartão "/>
          <p:cNvSpPr/>
          <p:nvPr/>
        </p:nvSpPr>
        <p:spPr>
          <a:xfrm>
            <a:off x="5029200" y="1280160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5193792" y="1426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193792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14081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12801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Ache as marcas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Abra o arquivo e procure &lt;&lt;&lt;&lt;&lt;&lt;&lt;.</a:t>
            </a:r>
            <a:endParaRPr lang="en-US" sz="1200" dirty="0"/>
          </a:p>
        </p:txBody>
      </p:sp>
      <p:sp>
        <p:nvSpPr>
          <p:cNvPr id="14" name="Cartão "/>
          <p:cNvSpPr/>
          <p:nvPr/>
        </p:nvSpPr>
        <p:spPr>
          <a:xfrm>
            <a:off x="5029200" y="2103120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5193792" y="22494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193792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22311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21031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Escolha a versão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Mantenha uma ou combine as duas.</a:t>
            </a:r>
            <a:endParaRPr lang="en-US" sz="1200" dirty="0"/>
          </a:p>
        </p:txBody>
      </p:sp>
      <p:sp>
        <p:nvSpPr>
          <p:cNvPr id="19" name="Cartão "/>
          <p:cNvSpPr/>
          <p:nvPr/>
        </p:nvSpPr>
        <p:spPr>
          <a:xfrm>
            <a:off x="5029200" y="2926080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5193792" y="30723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193792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3054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715000" y="2926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Limpe as linhas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Apague &lt;&lt;&lt;&lt;&lt;&lt;&lt;, ======= e &gt;&gt;&gt;&gt;&gt;&gt;&gt;.</a:t>
            </a:r>
            <a:endParaRPr lang="en-US" sz="1200" dirty="0"/>
          </a:p>
        </p:txBody>
      </p:sp>
      <p:sp>
        <p:nvSpPr>
          <p:cNvPr id="24" name="Cartão "/>
          <p:cNvSpPr/>
          <p:nvPr/>
        </p:nvSpPr>
        <p:spPr>
          <a:xfrm>
            <a:off x="5029200" y="3749040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5" name="Shape 22"/>
          <p:cNvSpPr/>
          <p:nvPr/>
        </p:nvSpPr>
        <p:spPr>
          <a:xfrm>
            <a:off x="5193792" y="38953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193792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715000" y="38770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715000" y="37490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Finalize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git add e git commit.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Cola rápida de comandos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39319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Comando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 que serve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config --global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50"/>
                          </a:solidFill>
                        </a:rPr>
                        <a:t>Define nome e e-mail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init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50"/>
                          </a:solidFill>
                        </a:rPr>
                        <a:t>Inicia um repositório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clone URL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50"/>
                          </a:solidFill>
                        </a:rPr>
                        <a:t>Copia um repo do GitHub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50"/>
                          </a:solidFill>
                        </a:rPr>
                        <a:t>Estado dos arquivos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diff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50"/>
                          </a:solidFill>
                        </a:rPr>
                        <a:t>O que mudou, linha a linha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add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50"/>
                          </a:solidFill>
                        </a:rPr>
                        <a:t>Coloca na staging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commit -m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50"/>
                          </a:solidFill>
                        </a:rPr>
                        <a:t>Registra no histórico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39319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Comando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 que serve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remote add origin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50"/>
                          </a:solidFill>
                        </a:rPr>
                        <a:t>Conecta ao GitHub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push -u origin 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50"/>
                          </a:solidFill>
                        </a:rPr>
                        <a:t>Envia commits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pull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50"/>
                          </a:solidFill>
                        </a:rPr>
                        <a:t>Traz as novidades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branch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50"/>
                          </a:solidFill>
                        </a:rPr>
                        <a:t>Lista ou cria branches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switch -c nome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50"/>
                          </a:solidFill>
                        </a:rPr>
                        <a:t>Cria e entra na branch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merge branch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50"/>
                          </a:solidFill>
                        </a:rPr>
                        <a:t>Funde na branch atual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Agora é com você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 ciclo do dia a dia: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105156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2194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pull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19456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&gt;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783080" y="2194560"/>
            <a:ext cx="105156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783080" y="2194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branch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834640" y="219456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&gt;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926080" y="2194560"/>
            <a:ext cx="105156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926080" y="2194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alterar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977640" y="219456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&gt;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069080" y="2194560"/>
            <a:ext cx="105156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069080" y="2194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status e diff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120640" y="219456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&gt;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212080" y="2194560"/>
            <a:ext cx="105156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212080" y="2194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add e commit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19456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&gt;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55080" y="2194560"/>
            <a:ext cx="105156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55080" y="2194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push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219456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&gt;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498080" y="2194560"/>
            <a:ext cx="105156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98080" y="2194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Próximos passos de estudo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.gitignore  ·  git log  ·  git stash  ·  resolução de conflitos  ·  GitHub Issues e Actions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 Gradient">
  <a:themeElements>
    <a:clrScheme name="Ocean Gradient">
      <a:dk1>
        <a:srgbClr val="1B2350"/>
      </a:dk1>
      <a:lt1>
        <a:srgbClr val="FFFFFF"/>
      </a:lt1>
      <a:dk2>
        <a:srgbClr val="065A82"/>
      </a:dk2>
      <a:lt2>
        <a:srgbClr val="E8F2F7"/>
      </a:lt2>
      <a:accent1>
        <a:srgbClr val="1C7293"/>
      </a:accent1>
      <a:accent2>
        <a:srgbClr val="F2A541"/>
      </a:accent2>
      <a:accent3>
        <a:srgbClr val="02C39A"/>
      </a:accent3>
      <a:accent4>
        <a:srgbClr val="D9482B"/>
      </a:accent4>
      <a:accent5>
        <a:srgbClr val="21295C"/>
      </a:accent5>
      <a:accent6>
        <a:srgbClr val="5F6F94"/>
      </a:accent6>
      <a:hlink>
        <a:srgbClr val="1C7293"/>
      </a:hlink>
      <a:folHlink>
        <a:srgbClr val="5F6F94"/>
      </a:folHlink>
    </a:clrScheme>
    <a:fontScheme name="Ocean Gradie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Controle de Versão com Git e GitHub</dc:title>
  <dc:subject>PptxGenJS Presentation</dc:subject>
  <dc:creator>PptxGenJS</dc:creator>
  <cp:lastModifiedBy>PptxGenJS</cp:lastModifiedBy>
  <cp:revision>1</cp:revision>
  <dcterms:created xsi:type="dcterms:W3CDTF">2026-10-02T11:21:53Z</dcterms:created>
  <dcterms:modified xsi:type="dcterms:W3CDTF">2026-10-02T11:21:53Z</dcterms:modified>
</cp:coreProperties>
</file>